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Pathological recall</c:v>
                </c:pt>
              </c:strCache>
            </c:strRef>
          </c:tx>
          <c:spPr>
            <a:solidFill>
              <a:srgbClr val="6B74B8"/>
            </a:solidFill>
            <a:effectLst/>
          </c:spPr>
          <c:invertIfNegative val="0"/>
          <c:dLbls>
            <c:numFmt formatCode="0.000" sourceLinked="0"/>
            <c:txPr>
              <a:bodyPr/>
              <a:lstStyle/>
              <a:p>
                <a:pPr>
                  <a:defRPr b="0" i="0" strike="noStrike" sz="1300" u="none">
                    <a:solidFill>
                      <a:srgbClr val="1B2A38"/>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always answer Normal</c:v>
                  </c:pt>
                  <c:pt idx="1">
                    <c:v>logistic regression</c:v>
                  </c:pt>
                  <c:pt idx="2">
                    <c:v>random forest</c:v>
                  </c:pt>
                  <c:pt idx="3">
                    <c:v>gradient boosting</c:v>
                  </c:pt>
                </c:lvl>
              </c:multiLvlStrCache>
            </c:multiLvlStrRef>
          </c:cat>
          <c:val>
            <c:numRef>
              <c:f>Sheet1!$B$2:$B$5</c:f>
              <c:numCache>
                <c:formatCode>General</c:formatCode>
                <c:ptCount val="4"/>
                <c:pt idx="0">
                  <c:v>0</c:v>
                </c:pt>
                <c:pt idx="1">
                  <c:v>0.745</c:v>
                </c:pt>
                <c:pt idx="2">
                  <c:v>0.866</c:v>
                </c:pt>
                <c:pt idx="3">
                  <c:v>0.913</c:v>
                </c:pt>
              </c:numCache>
            </c:numRef>
          </c:val>
        </c:ser>
        <c:dLbls>
          <c:numFmt formatCode="0.000" sourceLinked="0"/>
          <c:txPr>
            <a:bodyPr/>
            <a:lstStyle/>
            <a:p>
              <a:pPr>
                <a:defRPr b="0" i="0" strike="noStrike" sz="1300" u="none">
                  <a:solidFill>
                    <a:srgbClr val="1B2A38"/>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A3A"/>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DDDDD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methods talk, not the results talk. The headline is that almost nothing improved the model after the third step, and the one thing that looked like it did failed to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rules are the spine. If someone only remembers one thing, it should be the fourth, because it is the one that changed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project has a ceiling that no amount of modelling removes. Say it early so that every null result later has somewhere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deviation of a single five-fold run is 0.0139, which is 1.9 cases. This is the number that justifies repeating everything ten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reading: pattern A is intermittent stress with the fetal response intact, 88% carry a prolonged deceleration. Pattern B is the silent trace, no decelerations and no accelerations at all. FIGO's criteria are a disjunction, so a class defined that way should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The retrospective check that came before it asked whether the loosened rule would admit anything previously rejected, and the answer was no. It never asked whether the rule's own adoption was reproducible. That was the question that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Stratification pays when each side needs a different rule. Here one side barely needs a rule at all and the other is untouched. Resampling that sparse stratum was also tried and lands at 7 of 10, which this rule cannot resolve at n=10.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version of a good result, and section 21.2 of the notebook has the full run. The ordinal target was proposed on the grounds that severity is not monotone in the features, and section 7 backs that: histogram_variance averages 17 for Normal, 83 for pattern A and 0.5 for pattern B, so Normal sits between the two. The prediction held in all five perturbation worlds, positive on pattern A and negative on pattern B every time. The comparison worth making out loud is with section 17. That four-class target cleared route B at 8 of 10 with +2.87 points of precision and then failed to reproduce in five worlds of six. This clears the same bar at 10 of 10 with +3.73 and holds its sign everywhere. So the method is not incapable of finding something, it found this. It still does not ship for two reasons. The gain is larger on the stratum section 20 showed was already at 77 of 79, and the held-out set was read in section 21 before this was found. If asked what to do about it: pre-register a one-vs-rest baseline in the next analysis plan and judge it on data that has not been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2" name="Shape 0"/>
          <p:cNvSpPr/>
          <p:nvPr/>
        </p:nvSpPr>
        <p:spPr>
          <a:xfrm>
            <a:off x="640080" y="1600200"/>
            <a:ext cx="118872" cy="118872"/>
          </a:xfrm>
          <a:prstGeom prst="rect">
            <a:avLst/>
          </a:prstGeom>
          <a:solidFill>
            <a:srgbClr val="3F9B73"/>
          </a:solidFill>
          <a:ln/>
        </p:spPr>
      </p:sp>
      <p:sp>
        <p:nvSpPr>
          <p:cNvPr id="3" name="Shape 1"/>
          <p:cNvSpPr/>
          <p:nvPr/>
        </p:nvSpPr>
        <p:spPr>
          <a:xfrm>
            <a:off x="841248" y="1600200"/>
            <a:ext cx="118872" cy="118872"/>
          </a:xfrm>
          <a:prstGeom prst="rect">
            <a:avLst/>
          </a:prstGeom>
          <a:solidFill>
            <a:srgbClr val="E07B2A"/>
          </a:solidFill>
          <a:ln/>
        </p:spPr>
      </p:sp>
      <p:sp>
        <p:nvSpPr>
          <p:cNvPr id="4" name="Shape 2"/>
          <p:cNvSpPr/>
          <p:nvPr/>
        </p:nvSpPr>
        <p:spPr>
          <a:xfrm>
            <a:off x="1042416" y="1600200"/>
            <a:ext cx="118872" cy="118872"/>
          </a:xfrm>
          <a:prstGeom prst="rect">
            <a:avLst/>
          </a:prstGeom>
          <a:solidFill>
            <a:srgbClr val="6B74B8"/>
          </a:solidFill>
          <a:ln/>
        </p:spPr>
      </p:sp>
      <p:sp>
        <p:nvSpPr>
          <p:cNvPr id="5" name="Text 3"/>
          <p:cNvSpPr txBox="1"/>
          <p:nvPr/>
        </p:nvSpPr>
        <p:spPr>
          <a:xfrm>
            <a:off x="640080" y="1965960"/>
            <a:ext cx="1024128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Fetal health from CTG traces</a:t>
            </a:r>
            <a:endParaRPr lang="en-US" sz="4600" dirty="0"/>
          </a:p>
        </p:txBody>
      </p:sp>
      <p:sp>
        <p:nvSpPr>
          <p:cNvPr id="6" name="Text 4"/>
          <p:cNvSpPr txBox="1"/>
          <p:nvPr/>
        </p:nvSpPr>
        <p:spPr>
          <a:xfrm>
            <a:off x="640080" y="2880360"/>
            <a:ext cx="9601200" cy="502920"/>
          </a:xfrm>
          <a:prstGeom prst="rect">
            <a:avLst/>
          </a:prstGeom>
          <a:noFill/>
          <a:ln/>
        </p:spPr>
        <p:txBody>
          <a:bodyPr wrap="square" lIns="0" tIns="0" rIns="0" bIns="0" rtlCol="0" anchor="ctr"/>
          <a:lstStyle/>
          <a:p>
            <a:pPr indent="0" marL="0">
              <a:buNone/>
            </a:pPr>
            <a:r>
              <a:rPr lang="en-US" sz="2000" dirty="0">
                <a:solidFill>
                  <a:srgbClr val="AFC0CE"/>
                </a:solidFill>
                <a:latin typeface="Calibri" pitchFamily="34" charset="0"/>
                <a:ea typeface="Calibri" pitchFamily="34" charset="-122"/>
                <a:cs typeface="Calibri" pitchFamily="34" charset="-120"/>
              </a:rPr>
              <a:t>One change at a time, and what survived being checked twice</a:t>
            </a:r>
            <a:endParaRPr lang="en-US" sz="2000" dirty="0"/>
          </a:p>
        </p:txBody>
      </p:sp>
      <p:sp>
        <p:nvSpPr>
          <p:cNvPr id="7" name="Text 5"/>
          <p:cNvSpPr txBox="1"/>
          <p:nvPr/>
        </p:nvSpPr>
        <p:spPr>
          <a:xfrm>
            <a:off x="640080" y="5806440"/>
            <a:ext cx="9144000" cy="365760"/>
          </a:xfrm>
          <a:prstGeom prst="rect">
            <a:avLst/>
          </a:prstGeom>
          <a:noFill/>
          <a:ln/>
        </p:spPr>
        <p:txBody>
          <a:bodyPr wrap="square" lIns="0" tIns="0" rIns="0" bIns="0" rtlCol="0" anchor="ctr"/>
          <a:lstStyle/>
          <a:p>
            <a:pPr indent="0" marL="0">
              <a:buNone/>
            </a:pPr>
            <a:r>
              <a:rPr lang="en-US" sz="1300" dirty="0">
                <a:solidFill>
                  <a:srgbClr val="AFC0CE"/>
                </a:solidFill>
                <a:latin typeface="Calibri" pitchFamily="34" charset="0"/>
                <a:ea typeface="Calibri" pitchFamily="34" charset="-122"/>
                <a:cs typeface="Calibri" pitchFamily="34" charset="-120"/>
              </a:rPr>
              <a:t>Sasha Martiouchev   ·   ITC data science programme   ·   method walkthrough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HOW THIS IS BUILT</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Four rules, fixed before any result</a:t>
            </a:r>
            <a:endParaRPr lang="en-US" sz="3000" dirty="0"/>
          </a:p>
        </p:txBody>
      </p:sp>
      <p:sp>
        <p:nvSpPr>
          <p:cNvPr id="4" name="Shape 2"/>
          <p:cNvSpPr/>
          <p:nvPr/>
        </p:nvSpPr>
        <p:spPr>
          <a:xfrm>
            <a:off x="640080" y="1417320"/>
            <a:ext cx="118872" cy="118872"/>
          </a:xfrm>
          <a:prstGeom prst="rect">
            <a:avLst/>
          </a:prstGeom>
          <a:solidFill>
            <a:srgbClr val="3F9B73"/>
          </a:solidFill>
          <a:ln/>
        </p:spPr>
      </p:sp>
      <p:sp>
        <p:nvSpPr>
          <p:cNvPr id="5" name="Shape 3"/>
          <p:cNvSpPr/>
          <p:nvPr/>
        </p:nvSpPr>
        <p:spPr>
          <a:xfrm>
            <a:off x="841248" y="1417320"/>
            <a:ext cx="118872" cy="118872"/>
          </a:xfrm>
          <a:prstGeom prst="rect">
            <a:avLst/>
          </a:prstGeom>
          <a:solidFill>
            <a:srgbClr val="E07B2A"/>
          </a:solidFill>
          <a:ln/>
        </p:spPr>
      </p:sp>
      <p:sp>
        <p:nvSpPr>
          <p:cNvPr id="6" name="Shape 4"/>
          <p:cNvSpPr/>
          <p:nvPr/>
        </p:nvSpPr>
        <p:spPr>
          <a:xfrm>
            <a:off x="1042416" y="1417320"/>
            <a:ext cx="118872" cy="118872"/>
          </a:xfrm>
          <a:prstGeom prst="rect">
            <a:avLst/>
          </a:prstGeom>
          <a:solidFill>
            <a:srgbClr val="6B74B8"/>
          </a:solidFill>
          <a:ln/>
        </p:spPr>
      </p:sp>
      <p:sp>
        <p:nvSpPr>
          <p:cNvPr id="7" name="Text 5"/>
          <p:cNvSpPr txBox="1"/>
          <p:nvPr/>
        </p:nvSpPr>
        <p:spPr>
          <a:xfrm>
            <a:off x="640080" y="1828800"/>
            <a:ext cx="3291840" cy="365760"/>
          </a:xfrm>
          <a:prstGeom prst="rect">
            <a:avLst/>
          </a:prstGeom>
          <a:noFill/>
          <a:ln/>
        </p:spPr>
        <p:txBody>
          <a:bodyPr wrap="square" lIns="0" tIns="0" rIns="0" bIns="0" rtlCol="0" anchor="t"/>
          <a:lstStyle/>
          <a:p>
            <a:pPr indent="0" marL="0">
              <a:buNone/>
            </a:pPr>
            <a:r>
              <a:rPr lang="en-US" sz="1600" b="1" dirty="0">
                <a:solidFill>
                  <a:srgbClr val="3F9B73"/>
                </a:solidFill>
                <a:latin typeface="Calibri" pitchFamily="34" charset="0"/>
                <a:ea typeface="Calibri" pitchFamily="34" charset="-122"/>
                <a:cs typeface="Calibri" pitchFamily="34" charset="-120"/>
              </a:rPr>
              <a:t>One change at a time</a:t>
            </a:r>
            <a:endParaRPr lang="en-US" sz="1600" dirty="0"/>
          </a:p>
        </p:txBody>
      </p:sp>
      <p:sp>
        <p:nvSpPr>
          <p:cNvPr id="8" name="Text 6"/>
          <p:cNvSpPr txBox="1"/>
          <p:nvPr/>
        </p:nvSpPr>
        <p:spPr>
          <a:xfrm>
            <a:off x="4114800" y="1819656"/>
            <a:ext cx="7406640" cy="94183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Every section alters exactly one thing and measures it against the section before. Nothing is bundled, so nothing hides behind anything else.</a:t>
            </a:r>
            <a:endParaRPr lang="en-US" sz="1400" dirty="0"/>
          </a:p>
        </p:txBody>
      </p:sp>
      <p:sp>
        <p:nvSpPr>
          <p:cNvPr id="9" name="Text 7"/>
          <p:cNvSpPr txBox="1"/>
          <p:nvPr/>
        </p:nvSpPr>
        <p:spPr>
          <a:xfrm>
            <a:off x="640080" y="2880360"/>
            <a:ext cx="3291840" cy="365760"/>
          </a:xfrm>
          <a:prstGeom prst="rect">
            <a:avLst/>
          </a:prstGeom>
          <a:noFill/>
          <a:ln/>
        </p:spPr>
        <p:txBody>
          <a:bodyPr wrap="square" lIns="0" tIns="0" rIns="0" bIns="0" rtlCol="0" anchor="t"/>
          <a:lstStyle/>
          <a:p>
            <a:pPr indent="0" marL="0">
              <a:buNone/>
            </a:pPr>
            <a:r>
              <a:rPr lang="en-US" sz="1600" b="1" dirty="0">
                <a:solidFill>
                  <a:srgbClr val="E07B2A"/>
                </a:solidFill>
                <a:latin typeface="Calibri" pitchFamily="34" charset="0"/>
                <a:ea typeface="Calibri" pitchFamily="34" charset="-122"/>
                <a:cs typeface="Calibri" pitchFamily="34" charset="-120"/>
              </a:rPr>
              <a:t>A rule written in advance</a:t>
            </a:r>
            <a:endParaRPr lang="en-US" sz="1600" dirty="0"/>
          </a:p>
        </p:txBody>
      </p:sp>
      <p:sp>
        <p:nvSpPr>
          <p:cNvPr id="10" name="Text 8"/>
          <p:cNvSpPr txBox="1"/>
          <p:nvPr/>
        </p:nvSpPr>
        <p:spPr>
          <a:xfrm>
            <a:off x="4114800" y="2871216"/>
            <a:ext cx="7406640" cy="94183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Adoption needs a gain on at least 8 of 10 fold assignments, worth at least 2 Pathological cases, costing no more than 2 points of Normal recall. Written in section 9, before a single model was fitted.</a:t>
            </a:r>
            <a:endParaRPr lang="en-US" sz="1400" dirty="0"/>
          </a:p>
        </p:txBody>
      </p:sp>
      <p:sp>
        <p:nvSpPr>
          <p:cNvPr id="11" name="Text 9"/>
          <p:cNvSpPr txBox="1"/>
          <p:nvPr/>
        </p:nvSpPr>
        <p:spPr>
          <a:xfrm>
            <a:off x="640080" y="3931920"/>
            <a:ext cx="3291840" cy="365760"/>
          </a:xfrm>
          <a:prstGeom prst="rect">
            <a:avLst/>
          </a:prstGeom>
          <a:noFill/>
          <a:ln/>
        </p:spPr>
        <p:txBody>
          <a:bodyPr wrap="square" lIns="0" tIns="0" rIns="0" bIns="0" rtlCol="0" anchor="t"/>
          <a:lstStyle/>
          <a:p>
            <a:pPr indent="0" marL="0">
              <a:buNone/>
            </a:pPr>
            <a:r>
              <a:rPr lang="en-US" sz="1600" b="1" dirty="0">
                <a:solidFill>
                  <a:srgbClr val="6B74B8"/>
                </a:solidFill>
                <a:latin typeface="Calibri" pitchFamily="34" charset="0"/>
                <a:ea typeface="Calibri" pitchFamily="34" charset="-122"/>
                <a:cs typeface="Calibri" pitchFamily="34" charset="-120"/>
              </a:rPr>
              <a:t>Every number repeated ten times</a:t>
            </a:r>
            <a:endParaRPr lang="en-US" sz="1600" dirty="0"/>
          </a:p>
        </p:txBody>
      </p:sp>
      <p:sp>
        <p:nvSpPr>
          <p:cNvPr id="12" name="Text 10"/>
          <p:cNvSpPr txBox="1"/>
          <p:nvPr/>
        </p:nvSpPr>
        <p:spPr>
          <a:xfrm>
            <a:off x="4114800" y="3922776"/>
            <a:ext cx="7406640" cy="94183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One cross-validated run has a standard deviation of 1.9 Pathological cases. Every comparison is run over ten fold assignments and read paired, on identical folds.</a:t>
            </a:r>
            <a:endParaRPr lang="en-US" sz="1400" dirty="0"/>
          </a:p>
        </p:txBody>
      </p:sp>
      <p:sp>
        <p:nvSpPr>
          <p:cNvPr id="13" name="Text 11"/>
          <p:cNvSpPr txBox="1"/>
          <p:nvPr/>
        </p:nvSpPr>
        <p:spPr>
          <a:xfrm>
            <a:off x="640080" y="4983480"/>
            <a:ext cx="3291840" cy="365760"/>
          </a:xfrm>
          <a:prstGeom prst="rect">
            <a:avLst/>
          </a:prstGeom>
          <a:noFill/>
          <a:ln/>
        </p:spPr>
        <p:txBody>
          <a:bodyPr wrap="square" lIns="0" tIns="0" rIns="0" bIns="0" rtlCol="0" anchor="t"/>
          <a:lstStyle/>
          <a:p>
            <a:pPr indent="0" marL="0">
              <a:buNone/>
            </a:pPr>
            <a:r>
              <a:rPr lang="en-US" sz="1600" b="1" dirty="0">
                <a:solidFill>
                  <a:srgbClr val="B3413A"/>
                </a:solidFill>
                <a:latin typeface="Calibri" pitchFamily="34" charset="0"/>
                <a:ea typeface="Calibri" pitchFamily="34" charset="-122"/>
                <a:cs typeface="Calibri" pitchFamily="34" charset="-120"/>
              </a:rPr>
              <a:t>A verdict must reproduce</a:t>
            </a:r>
            <a:endParaRPr lang="en-US" sz="1600" dirty="0"/>
          </a:p>
        </p:txBody>
      </p:sp>
      <p:sp>
        <p:nvSpPr>
          <p:cNvPr id="14" name="Text 12"/>
          <p:cNvSpPr txBox="1"/>
          <p:nvPr/>
        </p:nvSpPr>
        <p:spPr>
          <a:xfrm>
            <a:off x="4114800" y="4974336"/>
            <a:ext cx="7406640" cy="94183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A result that clears the rule is then re-tested under changes that should not matter. That check is what this talk is really about.</a:t>
            </a:r>
            <a:endParaRPr lang="en-US" sz="1400" dirty="0"/>
          </a:p>
        </p:txBody>
      </p:sp>
      <p:sp>
        <p:nvSpPr>
          <p:cNvPr id="15" name="Text 13"/>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Sections 9 and 17 of the notebook. The rule is printed there before any model is fitted.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THE CEILING</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The most informative thing on the trace is not in the file</a:t>
            </a:r>
            <a:endParaRPr lang="en-US" sz="3000" dirty="0"/>
          </a:p>
        </p:txBody>
      </p:sp>
      <p:sp>
        <p:nvSpPr>
          <p:cNvPr id="4" name="Text 2"/>
          <p:cNvSpPr txBox="1"/>
          <p:nvPr/>
        </p:nvSpPr>
        <p:spPr>
          <a:xfrm>
            <a:off x="640080" y="1554480"/>
            <a:ext cx="1554480" cy="1371600"/>
          </a:xfrm>
          <a:prstGeom prst="rect">
            <a:avLst/>
          </a:prstGeom>
          <a:noFill/>
          <a:ln/>
        </p:spPr>
        <p:txBody>
          <a:bodyPr wrap="square" lIns="0" tIns="0" rIns="0" bIns="0" rtlCol="0" anchor="ctr"/>
          <a:lstStyle/>
          <a:p>
            <a:pPr indent="0" marL="0">
              <a:buNone/>
            </a:pPr>
            <a:r>
              <a:rPr lang="en-US" sz="8200" b="1" dirty="0">
                <a:solidFill>
                  <a:srgbClr val="B3413A"/>
                </a:solidFill>
                <a:latin typeface="Cambria" pitchFamily="34" charset="0"/>
                <a:ea typeface="Cambria" pitchFamily="34" charset="-122"/>
                <a:cs typeface="Cambria" pitchFamily="34" charset="-120"/>
              </a:rPr>
              <a:t>0</a:t>
            </a:r>
            <a:endParaRPr lang="en-US" sz="8200" dirty="0"/>
          </a:p>
        </p:txBody>
      </p:sp>
      <p:sp>
        <p:nvSpPr>
          <p:cNvPr id="5" name="Text 3"/>
          <p:cNvSpPr txBox="1"/>
          <p:nvPr/>
        </p:nvSpPr>
        <p:spPr>
          <a:xfrm>
            <a:off x="2011680" y="1847088"/>
            <a:ext cx="9235440" cy="822960"/>
          </a:xfrm>
          <a:prstGeom prst="rect">
            <a:avLst/>
          </a:prstGeom>
          <a:noFill/>
          <a:ln/>
        </p:spPr>
        <p:txBody>
          <a:bodyPr wrap="square" lIns="0" tIns="0" rIns="0" bIns="0" rtlCol="0" anchor="ctr"/>
          <a:lstStyle/>
          <a:p>
            <a:pPr indent="0" marL="0">
              <a:lnSpc>
                <a:spcPct val="110000"/>
              </a:lnSpc>
              <a:buNone/>
            </a:pPr>
            <a:r>
              <a:rPr lang="en-US" sz="1900" dirty="0">
                <a:solidFill>
                  <a:srgbClr val="1B2A38"/>
                </a:solidFill>
                <a:latin typeface="Calibri" pitchFamily="34" charset="0"/>
                <a:ea typeface="Calibri" pitchFamily="34" charset="-122"/>
                <a:cs typeface="Calibri" pitchFamily="34" charset="-120"/>
              </a:rPr>
              <a:t>of the 21 columns record WHEN a deceleration happened, only that one did</a:t>
            </a:r>
            <a:endParaRPr lang="en-US" sz="1900" dirty="0"/>
          </a:p>
        </p:txBody>
      </p:sp>
      <p:sp>
        <p:nvSpPr>
          <p:cNvPr id="6" name="Shape 4"/>
          <p:cNvSpPr/>
          <p:nvPr/>
        </p:nvSpPr>
        <p:spPr>
          <a:xfrm>
            <a:off x="640080" y="3200400"/>
            <a:ext cx="5257800" cy="1920240"/>
          </a:xfrm>
          <a:prstGeom prst="rect">
            <a:avLst/>
          </a:prstGeom>
          <a:solidFill>
            <a:srgbClr val="F4F6F8"/>
          </a:solidFill>
          <a:ln/>
        </p:spPr>
      </p:sp>
      <p:sp>
        <p:nvSpPr>
          <p:cNvPr id="7" name="Shape 5"/>
          <p:cNvSpPr/>
          <p:nvPr/>
        </p:nvSpPr>
        <p:spPr>
          <a:xfrm>
            <a:off x="960120" y="3474720"/>
            <a:ext cx="118872" cy="118872"/>
          </a:xfrm>
          <a:prstGeom prst="rect">
            <a:avLst/>
          </a:prstGeom>
          <a:solidFill>
            <a:srgbClr val="3F9B73"/>
          </a:solidFill>
          <a:ln/>
        </p:spPr>
      </p:sp>
      <p:sp>
        <p:nvSpPr>
          <p:cNvPr id="8" name="Text 6"/>
          <p:cNvSpPr txBox="1"/>
          <p:nvPr/>
        </p:nvSpPr>
        <p:spPr>
          <a:xfrm>
            <a:off x="1188720" y="340156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A deceleration with the contraction</a:t>
            </a:r>
            <a:endParaRPr lang="en-US" sz="1600" dirty="0"/>
          </a:p>
        </p:txBody>
      </p:sp>
      <p:sp>
        <p:nvSpPr>
          <p:cNvPr id="9" name="Text 7"/>
          <p:cNvSpPr txBox="1"/>
          <p:nvPr/>
        </p:nvSpPr>
        <p:spPr>
          <a:xfrm>
            <a:off x="960120" y="3785616"/>
            <a:ext cx="4617720" cy="117043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Early. The head is compressed as the uterus tightens, the rate dips and recovers. Clinically unremarkable.</a:t>
            </a:r>
            <a:endParaRPr lang="en-US" sz="1400" dirty="0"/>
          </a:p>
        </p:txBody>
      </p:sp>
      <p:sp>
        <p:nvSpPr>
          <p:cNvPr id="10" name="Shape 8"/>
          <p:cNvSpPr/>
          <p:nvPr/>
        </p:nvSpPr>
        <p:spPr>
          <a:xfrm>
            <a:off x="6263640" y="3200400"/>
            <a:ext cx="5257800" cy="1920240"/>
          </a:xfrm>
          <a:prstGeom prst="rect">
            <a:avLst/>
          </a:prstGeom>
          <a:solidFill>
            <a:srgbClr val="F4F6F8"/>
          </a:solidFill>
          <a:ln/>
        </p:spPr>
      </p:sp>
      <p:sp>
        <p:nvSpPr>
          <p:cNvPr id="11" name="Shape 9"/>
          <p:cNvSpPr/>
          <p:nvPr/>
        </p:nvSpPr>
        <p:spPr>
          <a:xfrm>
            <a:off x="6583680" y="3474720"/>
            <a:ext cx="118872" cy="118872"/>
          </a:xfrm>
          <a:prstGeom prst="rect">
            <a:avLst/>
          </a:prstGeom>
          <a:solidFill>
            <a:srgbClr val="B3413A"/>
          </a:solidFill>
          <a:ln/>
        </p:spPr>
      </p:sp>
      <p:sp>
        <p:nvSpPr>
          <p:cNvPr id="12" name="Text 10"/>
          <p:cNvSpPr txBox="1"/>
          <p:nvPr/>
        </p:nvSpPr>
        <p:spPr>
          <a:xfrm>
            <a:off x="6812280" y="340156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The same dip, arriving after the peak</a:t>
            </a:r>
            <a:endParaRPr lang="en-US" sz="1600" dirty="0"/>
          </a:p>
        </p:txBody>
      </p:sp>
      <p:sp>
        <p:nvSpPr>
          <p:cNvPr id="13" name="Text 11"/>
          <p:cNvSpPr txBox="1"/>
          <p:nvPr/>
        </p:nvSpPr>
        <p:spPr>
          <a:xfrm>
            <a:off x="6583680" y="3785616"/>
            <a:ext cx="4617720" cy="117043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Late. Repeated late decelerations are the classic Pathological finding, and the single most useful thing a midwife reads off the trace.</a:t>
            </a:r>
            <a:endParaRPr lang="en-US" sz="1400" dirty="0"/>
          </a:p>
        </p:txBody>
      </p:sp>
      <p:sp>
        <p:nvSpPr>
          <p:cNvPr id="14" name="Text 12"/>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SisPorto summarises the recording into 21 numbers and discards the time axis. Both dips above produce identical columns.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THE DATA</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2,126 rows in, 140 Pathological to learn from</a:t>
            </a:r>
            <a:endParaRPr lang="en-US" sz="3000" dirty="0"/>
          </a:p>
        </p:txBody>
      </p:sp>
      <p:sp>
        <p:nvSpPr>
          <p:cNvPr id="4" name="Shape 2"/>
          <p:cNvSpPr/>
          <p:nvPr/>
        </p:nvSpPr>
        <p:spPr>
          <a:xfrm>
            <a:off x="640080" y="1600200"/>
            <a:ext cx="2500884" cy="1645920"/>
          </a:xfrm>
          <a:prstGeom prst="rect">
            <a:avLst/>
          </a:prstGeom>
          <a:solidFill>
            <a:srgbClr val="F4F6F8"/>
          </a:solidFill>
          <a:ln/>
        </p:spPr>
      </p:sp>
      <p:sp>
        <p:nvSpPr>
          <p:cNvPr id="5" name="Text 3"/>
          <p:cNvSpPr txBox="1"/>
          <p:nvPr/>
        </p:nvSpPr>
        <p:spPr>
          <a:xfrm>
            <a:off x="868680" y="1783080"/>
            <a:ext cx="2043684" cy="640080"/>
          </a:xfrm>
          <a:prstGeom prst="rect">
            <a:avLst/>
          </a:prstGeom>
          <a:noFill/>
          <a:ln/>
        </p:spPr>
        <p:txBody>
          <a:bodyPr wrap="square" lIns="0" tIns="0" rIns="0" bIns="0" rtlCol="0" anchor="ctr"/>
          <a:lstStyle/>
          <a:p>
            <a:pPr indent="0" marL="0">
              <a:buNone/>
            </a:pPr>
            <a:r>
              <a:rPr lang="en-US" sz="3400" b="1" dirty="0">
                <a:solidFill>
                  <a:srgbClr val="6B6B6B"/>
                </a:solidFill>
                <a:latin typeface="Cambria" pitchFamily="34" charset="0"/>
                <a:ea typeface="Cambria" pitchFamily="34" charset="-122"/>
                <a:cs typeface="Cambria" pitchFamily="34" charset="-120"/>
              </a:rPr>
              <a:t>2,126</a:t>
            </a:r>
            <a:endParaRPr lang="en-US" sz="3400" dirty="0"/>
          </a:p>
        </p:txBody>
      </p:sp>
      <p:sp>
        <p:nvSpPr>
          <p:cNvPr id="6" name="Text 4"/>
          <p:cNvSpPr txBox="1"/>
          <p:nvPr/>
        </p:nvSpPr>
        <p:spPr>
          <a:xfrm>
            <a:off x="868680" y="2423160"/>
            <a:ext cx="2043684" cy="685800"/>
          </a:xfrm>
          <a:prstGeom prst="rect">
            <a:avLst/>
          </a:prstGeom>
          <a:noFill/>
          <a:ln/>
        </p:spPr>
        <p:txBody>
          <a:bodyPr wrap="square" lIns="0" tIns="0" rIns="0" bIns="0" rtlCol="0" anchor="ctr"/>
          <a:lstStyle/>
          <a:p>
            <a:pPr indent="0" marL="0">
              <a:lnSpc>
                <a:spcPct val="110000"/>
              </a:lnSpc>
              <a:buNone/>
            </a:pPr>
            <a:r>
              <a:rPr lang="en-US" sz="1250" dirty="0">
                <a:solidFill>
                  <a:srgbClr val="3A3A3A"/>
                </a:solidFill>
                <a:latin typeface="Calibri" pitchFamily="34" charset="0"/>
                <a:ea typeface="Calibri" pitchFamily="34" charset="-122"/>
                <a:cs typeface="Calibri" pitchFamily="34" charset="-120"/>
              </a:rPr>
              <a:t>rows in the raw file, before any cleaning</a:t>
            </a:r>
            <a:endParaRPr lang="en-US" sz="1250" dirty="0"/>
          </a:p>
        </p:txBody>
      </p:sp>
      <p:sp>
        <p:nvSpPr>
          <p:cNvPr id="7" name="Shape 5"/>
          <p:cNvSpPr/>
          <p:nvPr/>
        </p:nvSpPr>
        <p:spPr>
          <a:xfrm>
            <a:off x="3433572" y="1600200"/>
            <a:ext cx="2500884" cy="1645920"/>
          </a:xfrm>
          <a:prstGeom prst="rect">
            <a:avLst/>
          </a:prstGeom>
          <a:solidFill>
            <a:srgbClr val="F4F6F8"/>
          </a:solidFill>
          <a:ln/>
        </p:spPr>
      </p:sp>
      <p:sp>
        <p:nvSpPr>
          <p:cNvPr id="8" name="Text 6"/>
          <p:cNvSpPr txBox="1"/>
          <p:nvPr/>
        </p:nvSpPr>
        <p:spPr>
          <a:xfrm>
            <a:off x="3662172" y="1783080"/>
            <a:ext cx="2043684" cy="640080"/>
          </a:xfrm>
          <a:prstGeom prst="rect">
            <a:avLst/>
          </a:prstGeom>
          <a:noFill/>
          <a:ln/>
        </p:spPr>
        <p:txBody>
          <a:bodyPr wrap="square" lIns="0" tIns="0" rIns="0" bIns="0" rtlCol="0" anchor="ctr"/>
          <a:lstStyle/>
          <a:p>
            <a:pPr indent="0" marL="0">
              <a:buNone/>
            </a:pPr>
            <a:r>
              <a:rPr lang="en-US" sz="3400" b="1" dirty="0">
                <a:solidFill>
                  <a:srgbClr val="1B2A38"/>
                </a:solidFill>
                <a:latin typeface="Cambria" pitchFamily="34" charset="0"/>
                <a:ea typeface="Cambria" pitchFamily="34" charset="-122"/>
                <a:cs typeface="Cambria" pitchFamily="34" charset="-120"/>
              </a:rPr>
              <a:t>2,109</a:t>
            </a:r>
            <a:endParaRPr lang="en-US" sz="3400" dirty="0"/>
          </a:p>
        </p:txBody>
      </p:sp>
      <p:sp>
        <p:nvSpPr>
          <p:cNvPr id="9" name="Text 7"/>
          <p:cNvSpPr txBox="1"/>
          <p:nvPr/>
        </p:nvSpPr>
        <p:spPr>
          <a:xfrm>
            <a:off x="3662172" y="2423160"/>
            <a:ext cx="2043684" cy="685800"/>
          </a:xfrm>
          <a:prstGeom prst="rect">
            <a:avLst/>
          </a:prstGeom>
          <a:noFill/>
          <a:ln/>
        </p:spPr>
        <p:txBody>
          <a:bodyPr wrap="square" lIns="0" tIns="0" rIns="0" bIns="0" rtlCol="0" anchor="ctr"/>
          <a:lstStyle/>
          <a:p>
            <a:pPr indent="0" marL="0">
              <a:lnSpc>
                <a:spcPct val="110000"/>
              </a:lnSpc>
              <a:buNone/>
            </a:pPr>
            <a:r>
              <a:rPr lang="en-US" sz="1250" dirty="0">
                <a:solidFill>
                  <a:srgbClr val="3A3A3A"/>
                </a:solidFill>
                <a:latin typeface="Calibri" pitchFamily="34" charset="0"/>
                <a:ea typeface="Calibri" pitchFamily="34" charset="-122"/>
                <a:cs typeface="Calibri" pitchFamily="34" charset="-120"/>
              </a:rPr>
              <a:t>after 17 removed as duplicated or contradictory</a:t>
            </a:r>
            <a:endParaRPr lang="en-US" sz="1250" dirty="0"/>
          </a:p>
        </p:txBody>
      </p:sp>
      <p:sp>
        <p:nvSpPr>
          <p:cNvPr id="10" name="Shape 8"/>
          <p:cNvSpPr/>
          <p:nvPr/>
        </p:nvSpPr>
        <p:spPr>
          <a:xfrm>
            <a:off x="6227064" y="1600200"/>
            <a:ext cx="2500884" cy="1645920"/>
          </a:xfrm>
          <a:prstGeom prst="rect">
            <a:avLst/>
          </a:prstGeom>
          <a:solidFill>
            <a:srgbClr val="F4F6F8"/>
          </a:solidFill>
          <a:ln/>
        </p:spPr>
      </p:sp>
      <p:sp>
        <p:nvSpPr>
          <p:cNvPr id="11" name="Text 9"/>
          <p:cNvSpPr txBox="1"/>
          <p:nvPr/>
        </p:nvSpPr>
        <p:spPr>
          <a:xfrm>
            <a:off x="6455664" y="1783080"/>
            <a:ext cx="2043684" cy="640080"/>
          </a:xfrm>
          <a:prstGeom prst="rect">
            <a:avLst/>
          </a:prstGeom>
          <a:noFill/>
          <a:ln/>
        </p:spPr>
        <p:txBody>
          <a:bodyPr wrap="square" lIns="0" tIns="0" rIns="0" bIns="0" rtlCol="0" anchor="ctr"/>
          <a:lstStyle/>
          <a:p>
            <a:pPr indent="0" marL="0">
              <a:buNone/>
            </a:pPr>
            <a:r>
              <a:rPr lang="en-US" sz="3400" b="1" dirty="0">
                <a:solidFill>
                  <a:srgbClr val="3F9B73"/>
                </a:solidFill>
                <a:latin typeface="Cambria" pitchFamily="34" charset="0"/>
                <a:ea typeface="Cambria" pitchFamily="34" charset="-122"/>
                <a:cs typeface="Cambria" pitchFamily="34" charset="-120"/>
              </a:rPr>
              <a:t>1,687</a:t>
            </a:r>
            <a:endParaRPr lang="en-US" sz="3400" dirty="0"/>
          </a:p>
        </p:txBody>
      </p:sp>
      <p:sp>
        <p:nvSpPr>
          <p:cNvPr id="12" name="Text 10"/>
          <p:cNvSpPr txBox="1"/>
          <p:nvPr/>
        </p:nvSpPr>
        <p:spPr>
          <a:xfrm>
            <a:off x="6455664" y="2423160"/>
            <a:ext cx="2043684" cy="685800"/>
          </a:xfrm>
          <a:prstGeom prst="rect">
            <a:avLst/>
          </a:prstGeom>
          <a:noFill/>
          <a:ln/>
        </p:spPr>
        <p:txBody>
          <a:bodyPr wrap="square" lIns="0" tIns="0" rIns="0" bIns="0" rtlCol="0" anchor="ctr"/>
          <a:lstStyle/>
          <a:p>
            <a:pPr indent="0" marL="0">
              <a:lnSpc>
                <a:spcPct val="110000"/>
              </a:lnSpc>
              <a:buNone/>
            </a:pPr>
            <a:r>
              <a:rPr lang="en-US" sz="1250" dirty="0">
                <a:solidFill>
                  <a:srgbClr val="3A3A3A"/>
                </a:solidFill>
                <a:latin typeface="Calibri" pitchFamily="34" charset="0"/>
                <a:ea typeface="Calibri" pitchFamily="34" charset="-122"/>
                <a:cs typeface="Calibri" pitchFamily="34" charset="-120"/>
              </a:rPr>
              <a:t>training rows, everything below is decided on these</a:t>
            </a:r>
            <a:endParaRPr lang="en-US" sz="1250" dirty="0"/>
          </a:p>
        </p:txBody>
      </p:sp>
      <p:sp>
        <p:nvSpPr>
          <p:cNvPr id="13" name="Shape 11"/>
          <p:cNvSpPr/>
          <p:nvPr/>
        </p:nvSpPr>
        <p:spPr>
          <a:xfrm>
            <a:off x="9020556" y="1600200"/>
            <a:ext cx="2500884" cy="1645920"/>
          </a:xfrm>
          <a:prstGeom prst="rect">
            <a:avLst/>
          </a:prstGeom>
          <a:solidFill>
            <a:srgbClr val="F4F6F8"/>
          </a:solidFill>
          <a:ln/>
        </p:spPr>
      </p:sp>
      <p:sp>
        <p:nvSpPr>
          <p:cNvPr id="14" name="Text 12"/>
          <p:cNvSpPr txBox="1"/>
          <p:nvPr/>
        </p:nvSpPr>
        <p:spPr>
          <a:xfrm>
            <a:off x="9249156" y="1783080"/>
            <a:ext cx="2043684" cy="640080"/>
          </a:xfrm>
          <a:prstGeom prst="rect">
            <a:avLst/>
          </a:prstGeom>
          <a:noFill/>
          <a:ln/>
        </p:spPr>
        <p:txBody>
          <a:bodyPr wrap="square" lIns="0" tIns="0" rIns="0" bIns="0" rtlCol="0" anchor="ctr"/>
          <a:lstStyle/>
          <a:p>
            <a:pPr indent="0" marL="0">
              <a:buNone/>
            </a:pPr>
            <a:r>
              <a:rPr lang="en-US" sz="3400" b="1" dirty="0">
                <a:solidFill>
                  <a:srgbClr val="6B74B8"/>
                </a:solidFill>
                <a:latin typeface="Cambria" pitchFamily="34" charset="0"/>
                <a:ea typeface="Cambria" pitchFamily="34" charset="-122"/>
                <a:cs typeface="Cambria" pitchFamily="34" charset="-120"/>
              </a:rPr>
              <a:t>422</a:t>
            </a:r>
            <a:endParaRPr lang="en-US" sz="3400" dirty="0"/>
          </a:p>
        </p:txBody>
      </p:sp>
      <p:sp>
        <p:nvSpPr>
          <p:cNvPr id="15" name="Text 13"/>
          <p:cNvSpPr txBox="1"/>
          <p:nvPr/>
        </p:nvSpPr>
        <p:spPr>
          <a:xfrm>
            <a:off x="9249156" y="2423160"/>
            <a:ext cx="2043684" cy="685800"/>
          </a:xfrm>
          <a:prstGeom prst="rect">
            <a:avLst/>
          </a:prstGeom>
          <a:noFill/>
          <a:ln/>
        </p:spPr>
        <p:txBody>
          <a:bodyPr wrap="square" lIns="0" tIns="0" rIns="0" bIns="0" rtlCol="0" anchor="ctr"/>
          <a:lstStyle/>
          <a:p>
            <a:pPr indent="0" marL="0">
              <a:lnSpc>
                <a:spcPct val="110000"/>
              </a:lnSpc>
              <a:buNone/>
            </a:pPr>
            <a:r>
              <a:rPr lang="en-US" sz="1250" dirty="0">
                <a:solidFill>
                  <a:srgbClr val="3A3A3A"/>
                </a:solidFill>
                <a:latin typeface="Calibri" pitchFamily="34" charset="0"/>
                <a:ea typeface="Calibri" pitchFamily="34" charset="-122"/>
                <a:cs typeface="Calibri" pitchFamily="34" charset="-120"/>
              </a:rPr>
              <a:t>held out, read once, at the very end</a:t>
            </a:r>
            <a:endParaRPr lang="en-US" sz="1250" dirty="0"/>
          </a:p>
        </p:txBody>
      </p:sp>
      <p:sp>
        <p:nvSpPr>
          <p:cNvPr id="16" name="Text 14"/>
          <p:cNvSpPr txBox="1"/>
          <p:nvPr/>
        </p:nvSpPr>
        <p:spPr>
          <a:xfrm>
            <a:off x="640080" y="3703320"/>
            <a:ext cx="3291840" cy="365760"/>
          </a:xfrm>
          <a:prstGeom prst="rect">
            <a:avLst/>
          </a:prstGeom>
          <a:noFill/>
          <a:ln/>
        </p:spPr>
        <p:txBody>
          <a:bodyPr wrap="square" lIns="0" tIns="0" rIns="0" bIns="0" rtlCol="0" anchor="t"/>
          <a:lstStyle/>
          <a:p>
            <a:pPr indent="0" marL="0">
              <a:buNone/>
            </a:pPr>
            <a:r>
              <a:rPr lang="en-US" sz="1600" b="1" dirty="0">
                <a:solidFill>
                  <a:srgbClr val="6B74B8"/>
                </a:solidFill>
                <a:latin typeface="Calibri" pitchFamily="34" charset="0"/>
                <a:ea typeface="Calibri" pitchFamily="34" charset="-122"/>
                <a:cs typeface="Calibri" pitchFamily="34" charset="-120"/>
              </a:rPr>
              <a:t>140 and 35</a:t>
            </a:r>
            <a:endParaRPr lang="en-US" sz="1600" dirty="0"/>
          </a:p>
        </p:txBody>
      </p:sp>
      <p:sp>
        <p:nvSpPr>
          <p:cNvPr id="17" name="Text 15"/>
          <p:cNvSpPr txBox="1"/>
          <p:nvPr/>
        </p:nvSpPr>
        <p:spPr>
          <a:xfrm>
            <a:off x="4114800" y="3694176"/>
            <a:ext cx="7406640" cy="94183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Pathological readings for training and for the held-out set. Those two counts set the resolution of every figure in this talk.</a:t>
            </a:r>
            <a:endParaRPr lang="en-US" sz="1400" dirty="0"/>
          </a:p>
        </p:txBody>
      </p:sp>
      <p:sp>
        <p:nvSpPr>
          <p:cNvPr id="18" name="Text 16"/>
          <p:cNvSpPr txBox="1"/>
          <p:nvPr/>
        </p:nvSpPr>
        <p:spPr>
          <a:xfrm>
            <a:off x="640080" y="4754880"/>
            <a:ext cx="3291840" cy="365760"/>
          </a:xfrm>
          <a:prstGeom prst="rect">
            <a:avLst/>
          </a:prstGeom>
          <a:noFill/>
          <a:ln/>
        </p:spPr>
        <p:txBody>
          <a:bodyPr wrap="square" lIns="0" tIns="0" rIns="0" bIns="0" rtlCol="0" anchor="t"/>
          <a:lstStyle/>
          <a:p>
            <a:pPr indent="0" marL="0">
              <a:buNone/>
            </a:pPr>
            <a:r>
              <a:rPr lang="en-US" sz="1600" b="1" dirty="0">
                <a:solidFill>
                  <a:srgbClr val="3F9B73"/>
                </a:solidFill>
                <a:latin typeface="Calibri" pitchFamily="34" charset="0"/>
                <a:ea typeface="Calibri" pitchFamily="34" charset="-122"/>
                <a:cs typeface="Calibri" pitchFamily="34" charset="-120"/>
              </a:rPr>
              <a:t>Split before exploring</a:t>
            </a:r>
            <a:endParaRPr lang="en-US" sz="1600" dirty="0"/>
          </a:p>
        </p:txBody>
      </p:sp>
      <p:sp>
        <p:nvSpPr>
          <p:cNvPr id="19" name="Text 17"/>
          <p:cNvSpPr txBox="1"/>
          <p:nvPr/>
        </p:nvSpPr>
        <p:spPr>
          <a:xfrm>
            <a:off x="4114800" y="4745736"/>
            <a:ext cx="7406640" cy="94183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The split happens before any chart is drawn, so the exploratory figures and the feature screening never see the held-out rows.</a:t>
            </a:r>
            <a:endParaRPr lang="en-US" sz="1400" dirty="0"/>
          </a:p>
        </p:txBody>
      </p:sp>
      <p:sp>
        <p:nvSpPr>
          <p:cNvPr id="20" name="Text 18"/>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Section 4 also runs twelve internal-consistency checks. Eleven come back empty.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THE SPINE</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Two noise floors, and the second one is the one that bites</a:t>
            </a:r>
            <a:endParaRPr lang="en-US" sz="3000" dirty="0"/>
          </a:p>
        </p:txBody>
      </p:sp>
      <p:sp>
        <p:nvSpPr>
          <p:cNvPr id="4" name="Shape 2"/>
          <p:cNvSpPr/>
          <p:nvPr/>
        </p:nvSpPr>
        <p:spPr>
          <a:xfrm>
            <a:off x="640080" y="1554480"/>
            <a:ext cx="5257800" cy="1965960"/>
          </a:xfrm>
          <a:prstGeom prst="rect">
            <a:avLst/>
          </a:prstGeom>
          <a:solidFill>
            <a:srgbClr val="F4F6F8"/>
          </a:solidFill>
          <a:ln/>
        </p:spPr>
      </p:sp>
      <p:sp>
        <p:nvSpPr>
          <p:cNvPr id="5" name="Shape 3"/>
          <p:cNvSpPr/>
          <p:nvPr/>
        </p:nvSpPr>
        <p:spPr>
          <a:xfrm>
            <a:off x="960120" y="1828800"/>
            <a:ext cx="118872" cy="118872"/>
          </a:xfrm>
          <a:prstGeom prst="rect">
            <a:avLst/>
          </a:prstGeom>
          <a:solidFill>
            <a:srgbClr val="3F9B73"/>
          </a:solidFill>
          <a:ln/>
        </p:spPr>
      </p:sp>
      <p:sp>
        <p:nvSpPr>
          <p:cNvPr id="6" name="Text 4"/>
          <p:cNvSpPr txBox="1"/>
          <p:nvPr/>
        </p:nvSpPr>
        <p:spPr>
          <a:xfrm>
            <a:off x="1188720" y="175564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Floor one: arithmetic</a:t>
            </a:r>
            <a:endParaRPr lang="en-US" sz="1600" dirty="0"/>
          </a:p>
        </p:txBody>
      </p:sp>
      <p:sp>
        <p:nvSpPr>
          <p:cNvPr id="7" name="Text 5"/>
          <p:cNvSpPr txBox="1"/>
          <p:nvPr/>
        </p:nvSpPr>
        <p:spPr>
          <a:xfrm>
            <a:off x="960120" y="2139696"/>
            <a:ext cx="4617720" cy="121615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140 Pathological cases means recall moves in steps of 0.71 points. A claimed difference of 0.3 points is 0.42 of a patient.</a:t>
            </a:r>
            <a:endParaRPr lang="en-US" sz="1400" dirty="0"/>
          </a:p>
        </p:txBody>
      </p:sp>
      <p:sp>
        <p:nvSpPr>
          <p:cNvPr id="8" name="Shape 6"/>
          <p:cNvSpPr/>
          <p:nvPr/>
        </p:nvSpPr>
        <p:spPr>
          <a:xfrm>
            <a:off x="6263640" y="1554480"/>
            <a:ext cx="5257800" cy="1965960"/>
          </a:xfrm>
          <a:prstGeom prst="rect">
            <a:avLst/>
          </a:prstGeom>
          <a:solidFill>
            <a:srgbClr val="F4F6F8"/>
          </a:solidFill>
          <a:ln/>
        </p:spPr>
      </p:sp>
      <p:sp>
        <p:nvSpPr>
          <p:cNvPr id="9" name="Shape 7"/>
          <p:cNvSpPr/>
          <p:nvPr/>
        </p:nvSpPr>
        <p:spPr>
          <a:xfrm>
            <a:off x="6583680" y="1828800"/>
            <a:ext cx="118872" cy="118872"/>
          </a:xfrm>
          <a:prstGeom prst="rect">
            <a:avLst/>
          </a:prstGeom>
          <a:solidFill>
            <a:srgbClr val="B3413A"/>
          </a:solidFill>
          <a:ln/>
        </p:spPr>
      </p:sp>
      <p:sp>
        <p:nvSpPr>
          <p:cNvPr id="10" name="Text 8"/>
          <p:cNvSpPr txBox="1"/>
          <p:nvPr/>
        </p:nvSpPr>
        <p:spPr>
          <a:xfrm>
            <a:off x="6812280" y="175564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Floor two: luck</a:t>
            </a:r>
            <a:endParaRPr lang="en-US" sz="1600" dirty="0"/>
          </a:p>
        </p:txBody>
      </p:sp>
      <p:sp>
        <p:nvSpPr>
          <p:cNvPr id="11" name="Text 9"/>
          <p:cNvSpPr txBox="1"/>
          <p:nvPr/>
        </p:nvSpPr>
        <p:spPr>
          <a:xfrm>
            <a:off x="6583680" y="2139696"/>
            <a:ext cx="4617720" cy="121615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Re-run one model on ten different fold assignments and nothing else. The spread from best to worst is 7.0 cases.</a:t>
            </a:r>
            <a:endParaRPr lang="en-US" sz="1400" dirty="0"/>
          </a:p>
        </p:txBody>
      </p:sp>
      <p:sp>
        <p:nvSpPr>
          <p:cNvPr id="12" name="Text 10"/>
          <p:cNvSpPr txBox="1"/>
          <p:nvPr/>
        </p:nvSpPr>
        <p:spPr>
          <a:xfrm>
            <a:off x="640080" y="3794760"/>
            <a:ext cx="1828800" cy="1188720"/>
          </a:xfrm>
          <a:prstGeom prst="rect">
            <a:avLst/>
          </a:prstGeom>
          <a:noFill/>
          <a:ln/>
        </p:spPr>
        <p:txBody>
          <a:bodyPr wrap="square" lIns="0" tIns="0" rIns="0" bIns="0" rtlCol="0" anchor="ctr"/>
          <a:lstStyle/>
          <a:p>
            <a:pPr indent="0" marL="0">
              <a:buNone/>
            </a:pPr>
            <a:r>
              <a:rPr lang="en-US" sz="7600" b="1" dirty="0">
                <a:solidFill>
                  <a:srgbClr val="B3413A"/>
                </a:solidFill>
                <a:latin typeface="Cambria" pitchFamily="34" charset="0"/>
                <a:ea typeface="Cambria" pitchFamily="34" charset="-122"/>
                <a:cs typeface="Cambria" pitchFamily="34" charset="-120"/>
              </a:rPr>
              <a:t>7.0</a:t>
            </a:r>
            <a:endParaRPr lang="en-US" sz="7600" dirty="0"/>
          </a:p>
        </p:txBody>
      </p:sp>
      <p:sp>
        <p:nvSpPr>
          <p:cNvPr id="13" name="Text 11"/>
          <p:cNvSpPr txBox="1"/>
          <p:nvPr/>
        </p:nvSpPr>
        <p:spPr>
          <a:xfrm>
            <a:off x="2606040" y="3977640"/>
            <a:ext cx="8595360" cy="1371600"/>
          </a:xfrm>
          <a:prstGeom prst="rect">
            <a:avLst/>
          </a:prstGeom>
          <a:noFill/>
          <a:ln/>
        </p:spPr>
        <p:txBody>
          <a:bodyPr wrap="square" lIns="0" tIns="0" rIns="0" bIns="0" rtlCol="0" anchor="ctr"/>
          <a:lstStyle/>
          <a:p>
            <a:pPr indent="0" marL="0">
              <a:lnSpc>
                <a:spcPct val="120000"/>
              </a:lnSpc>
              <a:buNone/>
            </a:pPr>
            <a:r>
              <a:rPr lang="en-US" sz="1600" dirty="0">
                <a:solidFill>
                  <a:srgbClr val="3A3A3A"/>
                </a:solidFill>
                <a:latin typeface="Calibri" pitchFamily="34" charset="0"/>
                <a:ea typeface="Calibri" pitchFamily="34" charset="-122"/>
                <a:cs typeface="Calibri" pitchFamily="34" charset="-120"/>
              </a:rPr>
              <a:t>Pathological cases between the best and worst of ten identical runs, with only the fold boundaries moved. Almost every difference in this project is one or two cases wide, so a single run cannot tell signal from luck at that resolution.</a:t>
            </a:r>
            <a:endParaRPr lang="en-US" sz="1600" dirty="0"/>
          </a:p>
        </p:txBody>
      </p:sp>
      <p:sp>
        <p:nvSpPr>
          <p:cNvPr id="14" name="Text 12"/>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Section 12 measures this directly: one model, ten fold assignments, nothing else changed.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WHAT WORKED</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Three steps, and all of the gain is in them</a:t>
            </a:r>
            <a:endParaRPr lang="en-US" sz="3000" dirty="0"/>
          </a:p>
        </p:txBody>
      </p:sp>
      <p:graphicFrame>
        <p:nvGraphicFramePr>
          <p:cNvPr id="4" name="Chart 0" descr=""/>
          <p:cNvGraphicFramePr/>
          <p:nvPr/>
        </p:nvGraphicFramePr>
        <p:xfrm>
          <a:off x="640080" y="1508760"/>
          <a:ext cx="6720840" cy="40690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08760"/>
            <a:ext cx="3840480" cy="1874520"/>
          </a:xfrm>
          <a:prstGeom prst="rect">
            <a:avLst/>
          </a:prstGeom>
          <a:solidFill>
            <a:srgbClr val="F4F6F8"/>
          </a:solidFill>
          <a:ln/>
        </p:spPr>
      </p:sp>
      <p:sp>
        <p:nvSpPr>
          <p:cNvPr id="6" name="Shape 3"/>
          <p:cNvSpPr/>
          <p:nvPr/>
        </p:nvSpPr>
        <p:spPr>
          <a:xfrm>
            <a:off x="8001000" y="1783080"/>
            <a:ext cx="118872" cy="118872"/>
          </a:xfrm>
          <a:prstGeom prst="rect">
            <a:avLst/>
          </a:prstGeom>
          <a:solidFill>
            <a:srgbClr val="3F9B73"/>
          </a:solidFill>
          <a:ln/>
        </p:spPr>
      </p:sp>
      <p:sp>
        <p:nvSpPr>
          <p:cNvPr id="7" name="Text 4"/>
          <p:cNvSpPr txBox="1"/>
          <p:nvPr/>
        </p:nvSpPr>
        <p:spPr>
          <a:xfrm>
            <a:off x="8229600" y="1709928"/>
            <a:ext cx="310896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The only clear win</a:t>
            </a:r>
            <a:endParaRPr lang="en-US" sz="1600" dirty="0"/>
          </a:p>
        </p:txBody>
      </p:sp>
      <p:sp>
        <p:nvSpPr>
          <p:cNvPr id="8" name="Text 5"/>
          <p:cNvSpPr txBox="1"/>
          <p:nvPr/>
        </p:nvSpPr>
        <p:spPr>
          <a:xfrm>
            <a:off x="8001000" y="2093976"/>
            <a:ext cx="3200400" cy="112471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Boosting beats the forest on all ten fold assignments, by 6.6 cases. It clears every clause of the rule.</a:t>
            </a:r>
            <a:endParaRPr lang="en-US" sz="1400" dirty="0"/>
          </a:p>
        </p:txBody>
      </p:sp>
      <p:sp>
        <p:nvSpPr>
          <p:cNvPr id="9" name="Shape 6"/>
          <p:cNvSpPr/>
          <p:nvPr/>
        </p:nvSpPr>
        <p:spPr>
          <a:xfrm>
            <a:off x="7680960" y="3703320"/>
            <a:ext cx="3840480" cy="1874520"/>
          </a:xfrm>
          <a:prstGeom prst="rect">
            <a:avLst/>
          </a:prstGeom>
          <a:solidFill>
            <a:srgbClr val="F4F6F8"/>
          </a:solidFill>
          <a:ln/>
        </p:spPr>
      </p:sp>
      <p:sp>
        <p:nvSpPr>
          <p:cNvPr id="10" name="Shape 7"/>
          <p:cNvSpPr/>
          <p:nvPr/>
        </p:nvSpPr>
        <p:spPr>
          <a:xfrm>
            <a:off x="8001000" y="3977640"/>
            <a:ext cx="118872" cy="118872"/>
          </a:xfrm>
          <a:prstGeom prst="rect">
            <a:avLst/>
          </a:prstGeom>
          <a:solidFill>
            <a:srgbClr val="6B6B6B"/>
          </a:solidFill>
          <a:ln/>
        </p:spPr>
      </p:sp>
      <p:sp>
        <p:nvSpPr>
          <p:cNvPr id="11" name="Text 8"/>
          <p:cNvSpPr txBox="1"/>
          <p:nvPr/>
        </p:nvSpPr>
        <p:spPr>
          <a:xfrm>
            <a:off x="8229600" y="3904488"/>
            <a:ext cx="310896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Keep it in proportion</a:t>
            </a:r>
            <a:endParaRPr lang="en-US" sz="1600" dirty="0"/>
          </a:p>
        </p:txBody>
      </p:sp>
      <p:sp>
        <p:nvSpPr>
          <p:cNvPr id="12" name="Text 9"/>
          <p:cNvSpPr txBox="1"/>
          <p:nvPr/>
        </p:nvSpPr>
        <p:spPr>
          <a:xfrm>
            <a:off x="8001000" y="4288536"/>
            <a:ext cx="3200400" cy="112471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Moving to trees at all was worth 16.9 cases. The choice between the two tree models is about two fifths of that.</a:t>
            </a:r>
            <a:endParaRPr lang="en-US" sz="1400" dirty="0"/>
          </a:p>
        </p:txBody>
      </p:sp>
      <p:sp>
        <p:nvSpPr>
          <p:cNvPr id="13" name="Text 10"/>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Out-of-fold Pathological recall, averaged over ten fold assignments, training rows only.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WHAT DID NOT WORK</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And then it stops. Twenty-one comparisons, nothing adopted.</a:t>
            </a:r>
            <a:endParaRPr lang="en-US" sz="3000" dirty="0"/>
          </a:p>
        </p:txBody>
      </p:sp>
      <p:sp>
        <p:nvSpPr>
          <p:cNvPr id="4" name="Shape 2"/>
          <p:cNvSpPr/>
          <p:nvPr/>
        </p:nvSpPr>
        <p:spPr>
          <a:xfrm>
            <a:off x="640080" y="1600200"/>
            <a:ext cx="5257800" cy="1828800"/>
          </a:xfrm>
          <a:prstGeom prst="rect">
            <a:avLst/>
          </a:prstGeom>
          <a:solidFill>
            <a:srgbClr val="F4F6F8"/>
          </a:solidFill>
          <a:ln/>
        </p:spPr>
      </p:sp>
      <p:sp>
        <p:nvSpPr>
          <p:cNvPr id="5" name="Text 3"/>
          <p:cNvSpPr txBox="1"/>
          <p:nvPr/>
        </p:nvSpPr>
        <p:spPr>
          <a:xfrm>
            <a:off x="960120" y="1764792"/>
            <a:ext cx="914400" cy="685800"/>
          </a:xfrm>
          <a:prstGeom prst="rect">
            <a:avLst/>
          </a:prstGeom>
          <a:noFill/>
          <a:ln/>
        </p:spPr>
        <p:txBody>
          <a:bodyPr wrap="square" lIns="0" tIns="0" rIns="0" bIns="0" rtlCol="0" anchor="ctr"/>
          <a:lstStyle/>
          <a:p>
            <a:pPr indent="0" marL="0">
              <a:buNone/>
            </a:pPr>
            <a:r>
              <a:rPr lang="en-US" sz="4000" b="1" dirty="0">
                <a:solidFill>
                  <a:srgbClr val="E07B2A"/>
                </a:solidFill>
                <a:latin typeface="Cambria" pitchFamily="34" charset="0"/>
                <a:ea typeface="Cambria" pitchFamily="34" charset="-122"/>
                <a:cs typeface="Cambria" pitchFamily="34" charset="-120"/>
              </a:rPr>
              <a:t>4</a:t>
            </a:r>
            <a:endParaRPr lang="en-US" sz="4000" dirty="0"/>
          </a:p>
        </p:txBody>
      </p:sp>
      <p:sp>
        <p:nvSpPr>
          <p:cNvPr id="6" name="Text 4"/>
          <p:cNvSpPr txBox="1"/>
          <p:nvPr/>
        </p:nvSpPr>
        <p:spPr>
          <a:xfrm>
            <a:off x="1828800" y="1901952"/>
            <a:ext cx="3749040" cy="36576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column decisions</a:t>
            </a:r>
            <a:endParaRPr lang="en-US" sz="1600" dirty="0"/>
          </a:p>
        </p:txBody>
      </p:sp>
      <p:sp>
        <p:nvSpPr>
          <p:cNvPr id="7" name="Text 5"/>
          <p:cNvSpPr txBox="1"/>
          <p:nvPr/>
        </p:nvSpPr>
        <p:spPr>
          <a:xfrm>
            <a:off x="960120" y="2496312"/>
            <a:ext cx="4617720" cy="841248"/>
          </a:xfrm>
          <a:prstGeom prst="rect">
            <a:avLst/>
          </a:prstGeom>
          <a:noFill/>
          <a:ln/>
        </p:spPr>
        <p:txBody>
          <a:bodyPr wrap="square" lIns="0" tIns="0" rIns="0" bIns="0" rtlCol="0" anchor="ctr"/>
          <a:lstStyle/>
          <a:p>
            <a:pPr indent="0" marL="0">
              <a:lnSpc>
                <a:spcPct val="112000"/>
              </a:lnSpc>
              <a:buNone/>
            </a:pPr>
            <a:r>
              <a:rPr lang="en-US" sz="1300" dirty="0">
                <a:solidFill>
                  <a:srgbClr val="3A3A3A"/>
                </a:solidFill>
                <a:latin typeface="Calibri" pitchFamily="34" charset="0"/>
                <a:ea typeface="Calibri" pitchFamily="34" charset="-122"/>
                <a:cs typeface="Calibri" pitchFamily="34" charset="-120"/>
              </a:rPr>
              <a:t>redundant and badly shaped columns fixed. No measurable effect on any of them.</a:t>
            </a:r>
            <a:endParaRPr lang="en-US" sz="1300" dirty="0"/>
          </a:p>
        </p:txBody>
      </p:sp>
      <p:sp>
        <p:nvSpPr>
          <p:cNvPr id="8" name="Shape 6"/>
          <p:cNvSpPr/>
          <p:nvPr/>
        </p:nvSpPr>
        <p:spPr>
          <a:xfrm>
            <a:off x="6263640" y="1600200"/>
            <a:ext cx="5257800" cy="1828800"/>
          </a:xfrm>
          <a:prstGeom prst="rect">
            <a:avLst/>
          </a:prstGeom>
          <a:solidFill>
            <a:srgbClr val="F4F6F8"/>
          </a:solidFill>
          <a:ln/>
        </p:spPr>
      </p:sp>
      <p:sp>
        <p:nvSpPr>
          <p:cNvPr id="9" name="Text 7"/>
          <p:cNvSpPr txBox="1"/>
          <p:nvPr/>
        </p:nvSpPr>
        <p:spPr>
          <a:xfrm>
            <a:off x="6583680" y="1764792"/>
            <a:ext cx="914400" cy="685800"/>
          </a:xfrm>
          <a:prstGeom prst="rect">
            <a:avLst/>
          </a:prstGeom>
          <a:noFill/>
          <a:ln/>
        </p:spPr>
        <p:txBody>
          <a:bodyPr wrap="square" lIns="0" tIns="0" rIns="0" bIns="0" rtlCol="0" anchor="ctr"/>
          <a:lstStyle/>
          <a:p>
            <a:pPr indent="0" marL="0">
              <a:buNone/>
            </a:pPr>
            <a:r>
              <a:rPr lang="en-US" sz="4000" b="1" dirty="0">
                <a:solidFill>
                  <a:srgbClr val="E07B2A"/>
                </a:solidFill>
                <a:latin typeface="Cambria" pitchFamily="34" charset="0"/>
                <a:ea typeface="Cambria" pitchFamily="34" charset="-122"/>
                <a:cs typeface="Cambria" pitchFamily="34" charset="-120"/>
              </a:rPr>
              <a:t>10</a:t>
            </a:r>
            <a:endParaRPr lang="en-US" sz="4000" dirty="0"/>
          </a:p>
        </p:txBody>
      </p:sp>
      <p:sp>
        <p:nvSpPr>
          <p:cNvPr id="10" name="Text 8"/>
          <p:cNvSpPr txBox="1"/>
          <p:nvPr/>
        </p:nvSpPr>
        <p:spPr>
          <a:xfrm>
            <a:off x="7452360" y="1901952"/>
            <a:ext cx="3749040" cy="36576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candidate features</a:t>
            </a:r>
            <a:endParaRPr lang="en-US" sz="1600" dirty="0"/>
          </a:p>
        </p:txBody>
      </p:sp>
      <p:sp>
        <p:nvSpPr>
          <p:cNvPr id="11" name="Text 9"/>
          <p:cNvSpPr txBox="1"/>
          <p:nvPr/>
        </p:nvSpPr>
        <p:spPr>
          <a:xfrm>
            <a:off x="6583680" y="2496312"/>
            <a:ext cx="4617720" cy="841248"/>
          </a:xfrm>
          <a:prstGeom prst="rect">
            <a:avLst/>
          </a:prstGeom>
          <a:noFill/>
          <a:ln/>
        </p:spPr>
        <p:txBody>
          <a:bodyPr wrap="square" lIns="0" tIns="0" rIns="0" bIns="0" rtlCol="0" anchor="ctr"/>
          <a:lstStyle/>
          <a:p>
            <a:pPr indent="0" marL="0">
              <a:lnSpc>
                <a:spcPct val="112000"/>
              </a:lnSpc>
              <a:buNone/>
            </a:pPr>
            <a:r>
              <a:rPr lang="en-US" sz="1300" dirty="0">
                <a:solidFill>
                  <a:srgbClr val="3A3A3A"/>
                </a:solidFill>
                <a:latin typeface="Calibri" pitchFamily="34" charset="0"/>
                <a:ea typeface="Calibri" pitchFamily="34" charset="-122"/>
                <a:cs typeface="Calibri" pitchFamily="34" charset="-120"/>
              </a:rPr>
              <a:t>four from FIGO's criteria, six from the exploration. All written down before any model was fitted. None cleared the rule.</a:t>
            </a:r>
            <a:endParaRPr lang="en-US" sz="1300" dirty="0"/>
          </a:p>
        </p:txBody>
      </p:sp>
      <p:sp>
        <p:nvSpPr>
          <p:cNvPr id="12" name="Shape 10"/>
          <p:cNvSpPr/>
          <p:nvPr/>
        </p:nvSpPr>
        <p:spPr>
          <a:xfrm>
            <a:off x="640080" y="3749040"/>
            <a:ext cx="5257800" cy="1828800"/>
          </a:xfrm>
          <a:prstGeom prst="rect">
            <a:avLst/>
          </a:prstGeom>
          <a:solidFill>
            <a:srgbClr val="F4F6F8"/>
          </a:solidFill>
          <a:ln/>
        </p:spPr>
      </p:sp>
      <p:sp>
        <p:nvSpPr>
          <p:cNvPr id="13" name="Text 11"/>
          <p:cNvSpPr txBox="1"/>
          <p:nvPr/>
        </p:nvSpPr>
        <p:spPr>
          <a:xfrm>
            <a:off x="960120" y="3913632"/>
            <a:ext cx="914400" cy="685800"/>
          </a:xfrm>
          <a:prstGeom prst="rect">
            <a:avLst/>
          </a:prstGeom>
          <a:noFill/>
          <a:ln/>
        </p:spPr>
        <p:txBody>
          <a:bodyPr wrap="square" lIns="0" tIns="0" rIns="0" bIns="0" rtlCol="0" anchor="ctr"/>
          <a:lstStyle/>
          <a:p>
            <a:pPr indent="0" marL="0">
              <a:buNone/>
            </a:pPr>
            <a:r>
              <a:rPr lang="en-US" sz="4000" b="1" dirty="0">
                <a:solidFill>
                  <a:srgbClr val="E07B2A"/>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1828800" y="4050792"/>
            <a:ext cx="3749040" cy="36576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imbalance methods</a:t>
            </a:r>
            <a:endParaRPr lang="en-US" sz="1600" dirty="0"/>
          </a:p>
        </p:txBody>
      </p:sp>
      <p:sp>
        <p:nvSpPr>
          <p:cNvPr id="15" name="Text 13"/>
          <p:cNvSpPr txBox="1"/>
          <p:nvPr/>
        </p:nvSpPr>
        <p:spPr>
          <a:xfrm>
            <a:off x="960120" y="4645152"/>
            <a:ext cx="4617720" cy="841248"/>
          </a:xfrm>
          <a:prstGeom prst="rect">
            <a:avLst/>
          </a:prstGeom>
          <a:noFill/>
          <a:ln/>
        </p:spPr>
        <p:txBody>
          <a:bodyPr wrap="square" lIns="0" tIns="0" rIns="0" bIns="0" rtlCol="0" anchor="ctr"/>
          <a:lstStyle/>
          <a:p>
            <a:pPr indent="0" marL="0">
              <a:lnSpc>
                <a:spcPct val="112000"/>
              </a:lnSpc>
              <a:buNone/>
            </a:pPr>
            <a:r>
              <a:rPr lang="en-US" sz="1300" dirty="0">
                <a:solidFill>
                  <a:srgbClr val="3A3A3A"/>
                </a:solidFill>
                <a:latin typeface="Calibri" pitchFamily="34" charset="0"/>
                <a:ea typeface="Calibri" pitchFamily="34" charset="-122"/>
                <a:cs typeface="Calibri" pitchFamily="34" charset="-120"/>
              </a:rPr>
              <a:t>balanced weights, SMOTE and undersampling. One overspends Normal recall, one does nothing, one does both.</a:t>
            </a:r>
            <a:endParaRPr lang="en-US" sz="1300" dirty="0"/>
          </a:p>
        </p:txBody>
      </p:sp>
      <p:sp>
        <p:nvSpPr>
          <p:cNvPr id="16" name="Shape 14"/>
          <p:cNvSpPr/>
          <p:nvPr/>
        </p:nvSpPr>
        <p:spPr>
          <a:xfrm>
            <a:off x="6263640" y="3749040"/>
            <a:ext cx="5257800" cy="1828800"/>
          </a:xfrm>
          <a:prstGeom prst="rect">
            <a:avLst/>
          </a:prstGeom>
          <a:solidFill>
            <a:srgbClr val="F4F6F8"/>
          </a:solidFill>
          <a:ln/>
        </p:spPr>
      </p:sp>
      <p:sp>
        <p:nvSpPr>
          <p:cNvPr id="17" name="Text 15"/>
          <p:cNvSpPr txBox="1"/>
          <p:nvPr/>
        </p:nvSpPr>
        <p:spPr>
          <a:xfrm>
            <a:off x="6583680" y="3913632"/>
            <a:ext cx="914400" cy="685800"/>
          </a:xfrm>
          <a:prstGeom prst="rect">
            <a:avLst/>
          </a:prstGeom>
          <a:noFill/>
          <a:ln/>
        </p:spPr>
        <p:txBody>
          <a:bodyPr wrap="square" lIns="0" tIns="0" rIns="0" bIns="0" rtlCol="0" anchor="ctr"/>
          <a:lstStyle/>
          <a:p>
            <a:pPr indent="0" marL="0">
              <a:buNone/>
            </a:pPr>
            <a:r>
              <a:rPr lang="en-US" sz="4000" b="1" dirty="0">
                <a:solidFill>
                  <a:srgbClr val="E07B2A"/>
                </a:solidFill>
                <a:latin typeface="Cambria" pitchFamily="34" charset="0"/>
                <a:ea typeface="Cambria" pitchFamily="34" charset="-122"/>
                <a:cs typeface="Cambria" pitchFamily="34" charset="-120"/>
              </a:rPr>
              <a:t>4</a:t>
            </a:r>
            <a:endParaRPr lang="en-US" sz="4000" dirty="0"/>
          </a:p>
        </p:txBody>
      </p:sp>
      <p:sp>
        <p:nvSpPr>
          <p:cNvPr id="18" name="Text 16"/>
          <p:cNvSpPr txBox="1"/>
          <p:nvPr/>
        </p:nvSpPr>
        <p:spPr>
          <a:xfrm>
            <a:off x="7452360" y="4050792"/>
            <a:ext cx="3749040" cy="36576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architectures</a:t>
            </a:r>
            <a:endParaRPr lang="en-US" sz="1600" dirty="0"/>
          </a:p>
        </p:txBody>
      </p:sp>
      <p:sp>
        <p:nvSpPr>
          <p:cNvPr id="19" name="Text 17"/>
          <p:cNvSpPr txBox="1"/>
          <p:nvPr/>
        </p:nvSpPr>
        <p:spPr>
          <a:xfrm>
            <a:off x="6583680" y="4645152"/>
            <a:ext cx="4617720" cy="841248"/>
          </a:xfrm>
          <a:prstGeom prst="rect">
            <a:avLst/>
          </a:prstGeom>
          <a:noFill/>
          <a:ln/>
        </p:spPr>
        <p:txBody>
          <a:bodyPr wrap="square" lIns="0" tIns="0" rIns="0" bIns="0" rtlCol="0" anchor="ctr"/>
          <a:lstStyle/>
          <a:p>
            <a:pPr indent="0" marL="0">
              <a:lnSpc>
                <a:spcPct val="112000"/>
              </a:lnSpc>
              <a:buNone/>
            </a:pPr>
            <a:r>
              <a:rPr lang="en-US" sz="1300" dirty="0">
                <a:solidFill>
                  <a:srgbClr val="3A3A3A"/>
                </a:solidFill>
                <a:latin typeface="Calibri" pitchFamily="34" charset="0"/>
                <a:ea typeface="Calibri" pitchFamily="34" charset="-122"/>
                <a:cs typeface="Calibri" pitchFamily="34" charset="-120"/>
              </a:rPr>
              <a:t>two cascades, a pair of pattern specialists and a four-class target. Covered on the next slide.</a:t>
            </a:r>
            <a:endParaRPr lang="en-US" sz="1300" dirty="0"/>
          </a:p>
        </p:txBody>
      </p:sp>
      <p:sp>
        <p:nvSpPr>
          <p:cNvPr id="20" name="Text 18"/>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Each judged by the same rule, on identical folds, against the step immediately before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THE ONE REAL FINDING</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The Pathological class is two patterns, not one</a:t>
            </a:r>
            <a:endParaRPr lang="en-US" sz="3000" dirty="0"/>
          </a:p>
        </p:txBody>
      </p:sp>
      <p:pic>
        <p:nvPicPr>
          <p:cNvPr id="4" name="Image 0" descr="pca.png">    </p:cNvPr>
          <p:cNvPicPr>
            <a:picLocks noChangeAspect="1"/>
          </p:cNvPicPr>
          <p:nvPr/>
        </p:nvPicPr>
        <p:blipFill>
          <a:blip r:embed="rId1"/>
          <a:stretch>
            <a:fillRect/>
          </a:stretch>
        </p:blipFill>
        <p:spPr>
          <a:xfrm>
            <a:off x="640080" y="1463040"/>
            <a:ext cx="6126480" cy="4251960"/>
          </a:xfrm>
          <a:prstGeom prst="rect">
            <a:avLst/>
          </a:prstGeom>
        </p:spPr>
      </p:pic>
      <p:sp>
        <p:nvSpPr>
          <p:cNvPr id="5" name="Shape 2"/>
          <p:cNvSpPr/>
          <p:nvPr/>
        </p:nvSpPr>
        <p:spPr>
          <a:xfrm>
            <a:off x="7040880" y="1463040"/>
            <a:ext cx="4480560" cy="2011680"/>
          </a:xfrm>
          <a:prstGeom prst="rect">
            <a:avLst/>
          </a:prstGeom>
          <a:solidFill>
            <a:srgbClr val="F4F6F8"/>
          </a:solidFill>
          <a:ln/>
        </p:spPr>
      </p:sp>
      <p:sp>
        <p:nvSpPr>
          <p:cNvPr id="6" name="Shape 3"/>
          <p:cNvSpPr/>
          <p:nvPr/>
        </p:nvSpPr>
        <p:spPr>
          <a:xfrm>
            <a:off x="7360920" y="1737360"/>
            <a:ext cx="118872" cy="118872"/>
          </a:xfrm>
          <a:prstGeom prst="rect">
            <a:avLst/>
          </a:prstGeom>
          <a:solidFill>
            <a:srgbClr val="6B74B8"/>
          </a:solidFill>
          <a:ln/>
        </p:spPr>
      </p:sp>
      <p:sp>
        <p:nvSpPr>
          <p:cNvPr id="7" name="Text 4"/>
          <p:cNvSpPr txBox="1"/>
          <p:nvPr/>
        </p:nvSpPr>
        <p:spPr>
          <a:xfrm>
            <a:off x="7589520" y="1664208"/>
            <a:ext cx="374904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They are opposites</a:t>
            </a:r>
            <a:endParaRPr lang="en-US" sz="1600" dirty="0"/>
          </a:p>
        </p:txBody>
      </p:sp>
      <p:sp>
        <p:nvSpPr>
          <p:cNvPr id="8" name="Text 5"/>
          <p:cNvSpPr txBox="1"/>
          <p:nvPr/>
        </p:nvSpPr>
        <p:spPr>
          <a:xfrm>
            <a:off x="7360920" y="2048256"/>
            <a:ext cx="3840480" cy="126187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Pattern A has a wide ragged histogram, variance 83. Pattern B has collapsed flat, variance 0.5. The Normal class average sits between them at 17.</a:t>
            </a:r>
            <a:endParaRPr lang="en-US" sz="1400" dirty="0"/>
          </a:p>
        </p:txBody>
      </p:sp>
      <p:sp>
        <p:nvSpPr>
          <p:cNvPr id="9" name="Shape 6"/>
          <p:cNvSpPr/>
          <p:nvPr/>
        </p:nvSpPr>
        <p:spPr>
          <a:xfrm>
            <a:off x="7040880" y="3794760"/>
            <a:ext cx="4480560" cy="1920240"/>
          </a:xfrm>
          <a:prstGeom prst="rect">
            <a:avLst/>
          </a:prstGeom>
          <a:solidFill>
            <a:srgbClr val="F4F6F8"/>
          </a:solidFill>
          <a:ln/>
        </p:spPr>
      </p:sp>
      <p:sp>
        <p:nvSpPr>
          <p:cNvPr id="10" name="Shape 7"/>
          <p:cNvSpPr/>
          <p:nvPr/>
        </p:nvSpPr>
        <p:spPr>
          <a:xfrm>
            <a:off x="7360920" y="4069080"/>
            <a:ext cx="118872" cy="118872"/>
          </a:xfrm>
          <a:prstGeom prst="rect">
            <a:avLst/>
          </a:prstGeom>
          <a:solidFill>
            <a:srgbClr val="3F9B73"/>
          </a:solidFill>
          <a:ln/>
        </p:spPr>
      </p:sp>
      <p:sp>
        <p:nvSpPr>
          <p:cNvPr id="11" name="Text 8"/>
          <p:cNvSpPr txBox="1"/>
          <p:nvPr/>
        </p:nvSpPr>
        <p:spPr>
          <a:xfrm>
            <a:off x="7589520" y="3995928"/>
            <a:ext cx="374904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And it is not chance</a:t>
            </a:r>
            <a:endParaRPr lang="en-US" sz="1600" dirty="0"/>
          </a:p>
        </p:txBody>
      </p:sp>
      <p:sp>
        <p:nvSpPr>
          <p:cNvPr id="12" name="Text 9"/>
          <p:cNvSpPr txBox="1"/>
          <p:nvPr/>
        </p:nvSpPr>
        <p:spPr>
          <a:xfrm>
            <a:off x="7360920" y="4379976"/>
            <a:ext cx="3840480" cy="117043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200 random splits of the same rows score 0.212 on average and never reach the 0.443 this split scores.</a:t>
            </a:r>
            <a:endParaRPr lang="en-US" sz="1400" dirty="0"/>
          </a:p>
        </p:txBody>
      </p:sp>
      <p:sp>
        <p:nvSpPr>
          <p:cNvPr id="13" name="Text 10"/>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140 training Pathological rows, clustered on eight columns, drawn in the first two principal components of all training rows.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THE METHOD RESULT</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A verdict that cleared the rule, then failed to reproduce</a:t>
            </a:r>
            <a:endParaRPr lang="en-US" sz="3000" dirty="0"/>
          </a:p>
        </p:txBody>
      </p:sp>
      <p:sp>
        <p:nvSpPr>
          <p:cNvPr id="4" name="Text 2"/>
          <p:cNvSpPr txBox="1"/>
          <p:nvPr/>
        </p:nvSpPr>
        <p:spPr>
          <a:xfrm>
            <a:off x="640080" y="1463040"/>
            <a:ext cx="10881360" cy="685800"/>
          </a:xfrm>
          <a:prstGeom prst="rect">
            <a:avLst/>
          </a:prstGeom>
          <a:noFill/>
          <a:ln/>
        </p:spPr>
        <p:txBody>
          <a:bodyPr wrap="square" lIns="0" tIns="0" rIns="0" bIns="0" rtlCol="0" anchor="ctr"/>
          <a:lstStyle/>
          <a:p>
            <a:pPr indent="0" marL="0">
              <a:lnSpc>
                <a:spcPct val="115000"/>
              </a:lnSpc>
              <a:buNone/>
            </a:pPr>
            <a:r>
              <a:rPr lang="en-US" sz="1500" dirty="0">
                <a:solidFill>
                  <a:srgbClr val="3A3A3A"/>
                </a:solidFill>
                <a:latin typeface="Calibri" pitchFamily="34" charset="0"/>
                <a:ea typeface="Calibri" pitchFamily="34" charset="-122"/>
                <a:cs typeface="Calibri" pitchFamily="34" charset="-120"/>
              </a:rPr>
              <a:t>The four-class target gains 2.87 points of precision on 8 of 10 fold assignments. The threshold is 8. So the rule says adopt, and the verdict sits exactly on its own edge. Re-run it under changes that should mean nothing:</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6720840" cy="914400"/>
        </p:xfrm>
        <a:graphic>
          <a:graphicData uri="http://schemas.openxmlformats.org/drawingml/2006/table">
            <a:tbl>
              <a:tblPr/>
              <a:tblGrid>
                <a:gridCol w="2788920"/>
                <a:gridCol w="1097280"/>
                <a:gridCol w="1051560"/>
                <a:gridCol w="960120"/>
                <a:gridCol w="822960"/>
              </a:tblGrid>
              <a:tr h="384048">
                <a:tc>
                  <a:txBody>
                    <a:bodyPr/>
                    <a:lstStyle/>
                    <a:p>
                      <a:pPr indent="0" marL="0">
                        <a:buNone/>
                      </a:pPr>
                      <a:r>
                        <a:rPr lang="en-US" sz="1300" b="1" dirty="0">
                          <a:solidFill>
                            <a:srgbClr val="3A3A3A"/>
                          </a:solidFill>
                          <a:latin typeface="Calibri" pitchFamily="34" charset="0"/>
                          <a:ea typeface="Calibri" pitchFamily="34" charset="-122"/>
                          <a:cs typeface="Calibri" pitchFamily="34" charset="-120"/>
                        </a:rPr>
                        <a:t>what changed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A3A3A"/>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A3A3A"/>
                          </a:solidFill>
                          <a:latin typeface="Calibri" pitchFamily="34" charset="0"/>
                          <a:ea typeface="Calibri" pitchFamily="34" charset="-122"/>
                          <a:cs typeface="Calibri" pitchFamily="34" charset="-120"/>
                        </a:rPr>
                        <a:t>wins</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A3A3A"/>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A3A3A"/>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nothing, the original run</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F9B73"/>
                          </a:solidFill>
                          <a:latin typeface="Calibri" pitchFamily="34" charset="0"/>
                          <a:ea typeface="Calibri" pitchFamily="34" charset="-122"/>
                          <a:cs typeface="Calibri" pitchFamily="34" charset="-120"/>
                        </a:rPr>
                        <a:t>ADOPTED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8/10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+2.87</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drop row 0 of 2,126</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rejected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4/10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+0.52</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drop a different row</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rejected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8/10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+2.47</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drop a third row</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rejected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6/10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+1.45</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average fold assignments 10 to 19</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rejected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8/10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+2.36</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+0.8</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average fold assignments 20 to 29</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rejected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10/10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+3.96</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A3A3A"/>
                          </a:solidFill>
                          <a:latin typeface="Calibri" pitchFamily="34" charset="0"/>
                          <a:ea typeface="Calibri" pitchFamily="34" charset="-122"/>
                          <a:cs typeface="Calibri" pitchFamily="34" charset="-120"/>
                        </a:rPr>
                        <a:t>−0.7</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
        <p:nvSpPr>
          <p:cNvPr id="6" name="Shape 3"/>
          <p:cNvSpPr/>
          <p:nvPr/>
        </p:nvSpPr>
        <p:spPr>
          <a:xfrm>
            <a:off x="7726680" y="2331720"/>
            <a:ext cx="3794760" cy="2688336"/>
          </a:xfrm>
          <a:prstGeom prst="rect">
            <a:avLst/>
          </a:prstGeom>
          <a:solidFill>
            <a:srgbClr val="F4F6F8"/>
          </a:solidFill>
          <a:ln/>
        </p:spPr>
      </p:sp>
      <p:sp>
        <p:nvSpPr>
          <p:cNvPr id="7" name="Shape 4"/>
          <p:cNvSpPr/>
          <p:nvPr/>
        </p:nvSpPr>
        <p:spPr>
          <a:xfrm>
            <a:off x="8046720" y="2606040"/>
            <a:ext cx="118872" cy="118872"/>
          </a:xfrm>
          <a:prstGeom prst="rect">
            <a:avLst/>
          </a:prstGeom>
          <a:solidFill>
            <a:srgbClr val="B3413A"/>
          </a:solidFill>
          <a:ln/>
        </p:spPr>
      </p:sp>
      <p:sp>
        <p:nvSpPr>
          <p:cNvPr id="8" name="Text 5"/>
          <p:cNvSpPr txBox="1"/>
          <p:nvPr/>
        </p:nvSpPr>
        <p:spPr>
          <a:xfrm>
            <a:off x="8275320" y="2532888"/>
            <a:ext cx="306324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Adopted in one world of six</a:t>
            </a:r>
            <a:endParaRPr lang="en-US" sz="1600" dirty="0"/>
          </a:p>
        </p:txBody>
      </p:sp>
      <p:sp>
        <p:nvSpPr>
          <p:cNvPr id="9" name="Text 6"/>
          <p:cNvSpPr txBox="1"/>
          <p:nvPr/>
        </p:nvSpPr>
        <p:spPr>
          <a:xfrm>
            <a:off x="8046720" y="2916936"/>
            <a:ext cx="3154680" cy="1938528"/>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The precision gain points the same way in all six, from +0.52 to +3.96. What is unstable is the verdict. The last row is better on 10 of 10 and is rejected anyway, because Pathological recall drifted 0.7 of a case.</a:t>
            </a:r>
            <a:endParaRPr lang="en-US" sz="1400" dirty="0"/>
          </a:p>
        </p:txBody>
      </p:sp>
      <p:sp>
        <p:nvSpPr>
          <p:cNvPr id="10" name="Text 7"/>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Precision in points, recall in Pathological cases. A rule that reverses itself in five worlds of six cannot be trusted when it says yes, so nothing is adopted for accuracy.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WHY NONE OF THEM PAID</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The structure is real, and it sits in the easy cases</a:t>
            </a:r>
            <a:endParaRPr lang="en-US" sz="3000" dirty="0"/>
          </a:p>
        </p:txBody>
      </p:sp>
      <p:sp>
        <p:nvSpPr>
          <p:cNvPr id="4" name="Text 2"/>
          <p:cNvSpPr txBox="1"/>
          <p:nvPr/>
        </p:nvSpPr>
        <p:spPr>
          <a:xfrm>
            <a:off x="640080" y="1463040"/>
            <a:ext cx="10881360" cy="868680"/>
          </a:xfrm>
          <a:prstGeom prst="rect">
            <a:avLst/>
          </a:prstGeom>
          <a:noFill/>
          <a:ln/>
        </p:spPr>
        <p:txBody>
          <a:bodyPr wrap="square" lIns="0" tIns="0" rIns="0" bIns="0" rtlCol="0" anchor="ctr"/>
          <a:lstStyle/>
          <a:p>
            <a:pPr indent="0" marL="0">
              <a:lnSpc>
                <a:spcPct val="115000"/>
              </a:lnSpc>
              <a:buNone/>
            </a:pPr>
            <a:r>
              <a:rPr lang="en-US" sz="1500" dirty="0">
                <a:solidFill>
                  <a:srgbClr val="3A3A3A"/>
                </a:solidFill>
                <a:latin typeface="Calibri" pitchFamily="34" charset="0"/>
                <a:ea typeface="Calibri" pitchFamily="34" charset="-122"/>
                <a:cs typeface="Calibri" pitchFamily="34" charset="-120"/>
              </a:rPr>
              <a:t>Four designs tried to exploit the two patterns: a four-class target, two cascades, pattern specialists, and routing on whether a prolonged deceleration is present. Splitting on that clinical rule gives one stratum that is 54% Pathological and one that is 4%. Then look at where the cases are actually caught:</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566160"/>
                <a:gridCol w="3657600"/>
                <a:gridCol w="3657600"/>
              </a:tblGrid>
              <a:tr h="384048">
                <a:tc>
                  <a:txBody>
                    <a:bodyPr/>
                    <a:lstStyle/>
                    <a:p>
                      <a:pP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3A3A3A"/>
                          </a:solidFill>
                          <a:latin typeface="Calibri" pitchFamily="34" charset="0"/>
                          <a:ea typeface="Calibri" pitchFamily="34" charset="-122"/>
                          <a:cs typeface="Calibri" pitchFamily="34" charset="-120"/>
                        </a:rPr>
                        <a:t>prolonged deceleration present</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3A3A3A"/>
                          </a:solidFill>
                          <a:latin typeface="Calibri" pitchFamily="34" charset="0"/>
                          <a:ea typeface="Calibri" pitchFamily="34" charset="-122"/>
                          <a:cs typeface="Calibri" pitchFamily="34" charset="-120"/>
                        </a:rPr>
                        <a:t>absent</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400" dirty="0">
                          <a:solidFill>
                            <a:srgbClr val="3A3A3A"/>
                          </a:solidFill>
                          <a:latin typeface="Calibri" pitchFamily="34" charset="0"/>
                          <a:ea typeface="Calibri" pitchFamily="34" charset="-122"/>
                          <a:cs typeface="Calibri" pitchFamily="34" charset="-120"/>
                        </a:rPr>
                        <a:t>one model for everything</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F9B73"/>
                          </a:solidFill>
                          <a:latin typeface="Calibri" pitchFamily="34" charset="0"/>
                          <a:ea typeface="Calibri" pitchFamily="34" charset="-122"/>
                          <a:cs typeface="Calibri" pitchFamily="34" charset="-120"/>
                        </a:rPr>
                        <a:t>77 of 79    (97.5%)</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B3413A"/>
                          </a:solidFill>
                          <a:latin typeface="Calibri" pitchFamily="34" charset="0"/>
                          <a:ea typeface="Calibri" pitchFamily="34" charset="-122"/>
                          <a:cs typeface="Calibri" pitchFamily="34" charset="-120"/>
                        </a:rPr>
                        <a:t>51 of 61    (83.6%)</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84048">
                <a:tc>
                  <a:txBody>
                    <a:bodyPr/>
                    <a:lstStyle/>
                    <a:p>
                      <a:pPr indent="0" marL="0">
                        <a:buNone/>
                      </a:pPr>
                      <a:r>
                        <a:rPr lang="en-US" sz="1400" dirty="0">
                          <a:solidFill>
                            <a:srgbClr val="3A3A3A"/>
                          </a:solidFill>
                          <a:latin typeface="Calibri" pitchFamily="34" charset="0"/>
                          <a:ea typeface="Calibri" pitchFamily="34" charset="-122"/>
                          <a:cs typeface="Calibri" pitchFamily="34" charset="-120"/>
                        </a:rPr>
                        <a:t>one model per stratum</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A3A3A"/>
                          </a:solidFill>
                          <a:latin typeface="Calibri" pitchFamily="34" charset="0"/>
                          <a:ea typeface="Calibri" pitchFamily="34" charset="-122"/>
                          <a:cs typeface="Calibri" pitchFamily="34" charset="-120"/>
                        </a:rPr>
                        <a:t>75 of 79    (94.9%)</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B3413A"/>
                          </a:solidFill>
                          <a:latin typeface="Calibri" pitchFamily="34" charset="0"/>
                          <a:ea typeface="Calibri" pitchFamily="34" charset="-122"/>
                          <a:cs typeface="Calibri" pitchFamily="34" charset="-120"/>
                        </a:rPr>
                        <a:t>51 of 61    (83.6%)</a:t>
                      </a:r>
                      <a:endParaRPr lang="en-US" sz="14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
        <p:nvSpPr>
          <p:cNvPr id="6" name="Shape 3"/>
          <p:cNvSpPr/>
          <p:nvPr/>
        </p:nvSpPr>
        <p:spPr>
          <a:xfrm>
            <a:off x="640080" y="4114800"/>
            <a:ext cx="5257800" cy="1783080"/>
          </a:xfrm>
          <a:prstGeom prst="rect">
            <a:avLst/>
          </a:prstGeom>
          <a:solidFill>
            <a:srgbClr val="F4F6F8"/>
          </a:solidFill>
          <a:ln/>
        </p:spPr>
      </p:sp>
      <p:sp>
        <p:nvSpPr>
          <p:cNvPr id="7" name="Shape 4"/>
          <p:cNvSpPr/>
          <p:nvPr/>
        </p:nvSpPr>
        <p:spPr>
          <a:xfrm>
            <a:off x="960120" y="4389120"/>
            <a:ext cx="118872" cy="118872"/>
          </a:xfrm>
          <a:prstGeom prst="rect">
            <a:avLst/>
          </a:prstGeom>
          <a:solidFill>
            <a:srgbClr val="3F9B73"/>
          </a:solidFill>
          <a:ln/>
        </p:spPr>
      </p:sp>
      <p:sp>
        <p:nvSpPr>
          <p:cNvPr id="8" name="Text 5"/>
          <p:cNvSpPr txBox="1"/>
          <p:nvPr/>
        </p:nvSpPr>
        <p:spPr>
          <a:xfrm>
            <a:off x="1188720" y="431596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The easy half is already solved</a:t>
            </a:r>
            <a:endParaRPr lang="en-US" sz="1600" dirty="0"/>
          </a:p>
        </p:txBody>
      </p:sp>
      <p:sp>
        <p:nvSpPr>
          <p:cNvPr id="9" name="Text 6"/>
          <p:cNvSpPr txBox="1"/>
          <p:nvPr/>
        </p:nvSpPr>
        <p:spPr>
          <a:xfrm>
            <a:off x="960120" y="4700016"/>
            <a:ext cx="4617720" cy="103327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A single model already finds 97.5% of the cases that carry a prolonged deceleration. There is nothing there to win.</a:t>
            </a:r>
            <a:endParaRPr lang="en-US" sz="1400" dirty="0"/>
          </a:p>
        </p:txBody>
      </p:sp>
      <p:sp>
        <p:nvSpPr>
          <p:cNvPr id="10" name="Shape 7"/>
          <p:cNvSpPr/>
          <p:nvPr/>
        </p:nvSpPr>
        <p:spPr>
          <a:xfrm>
            <a:off x="6263640" y="4114800"/>
            <a:ext cx="5257800" cy="1783080"/>
          </a:xfrm>
          <a:prstGeom prst="rect">
            <a:avLst/>
          </a:prstGeom>
          <a:solidFill>
            <a:srgbClr val="F4F6F8"/>
          </a:solidFill>
          <a:ln/>
        </p:spPr>
      </p:sp>
      <p:sp>
        <p:nvSpPr>
          <p:cNvPr id="11" name="Shape 8"/>
          <p:cNvSpPr/>
          <p:nvPr/>
        </p:nvSpPr>
        <p:spPr>
          <a:xfrm>
            <a:off x="6583680" y="4389120"/>
            <a:ext cx="118872" cy="118872"/>
          </a:xfrm>
          <a:prstGeom prst="rect">
            <a:avLst/>
          </a:prstGeom>
          <a:solidFill>
            <a:srgbClr val="B3413A"/>
          </a:solidFill>
          <a:ln/>
        </p:spPr>
      </p:sp>
      <p:sp>
        <p:nvSpPr>
          <p:cNvPr id="12" name="Text 9"/>
          <p:cNvSpPr txBox="1"/>
          <p:nvPr/>
        </p:nvSpPr>
        <p:spPr>
          <a:xfrm>
            <a:off x="6812280" y="431596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The hard half does not move</a:t>
            </a:r>
            <a:endParaRPr lang="en-US" sz="1600" dirty="0"/>
          </a:p>
        </p:txBody>
      </p:sp>
      <p:sp>
        <p:nvSpPr>
          <p:cNvPr id="13" name="Text 10"/>
          <p:cNvSpPr txBox="1"/>
          <p:nvPr/>
        </p:nvSpPr>
        <p:spPr>
          <a:xfrm>
            <a:off x="6583680" y="4700016"/>
            <a:ext cx="4617720" cy="103327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Every stratified design leaves the 4%-prevalence stratum exactly as it found it. That is where all ten remaining misses live.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A TEXTBOOK FIX THAT CANNOT WORK</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Calibrating the probabilities changes the label, not the decision</a:t>
            </a:r>
            <a:endParaRPr lang="en-US" sz="3000" dirty="0"/>
          </a:p>
        </p:txBody>
      </p:sp>
      <p:sp>
        <p:nvSpPr>
          <p:cNvPr id="4" name="Text 2"/>
          <p:cNvSpPr txBox="1"/>
          <p:nvPr/>
        </p:nvSpPr>
        <p:spPr>
          <a:xfrm>
            <a:off x="640080" y="1554480"/>
            <a:ext cx="3931920" cy="365760"/>
          </a:xfrm>
          <a:prstGeom prst="rect">
            <a:avLst/>
          </a:prstGeom>
          <a:noFill/>
          <a:ln/>
        </p:spPr>
        <p:txBody>
          <a:bodyPr wrap="square" lIns="0" tIns="0" rIns="0" bIns="0" rtlCol="0" anchor="t"/>
          <a:lstStyle/>
          <a:p>
            <a:pPr indent="0" marL="0">
              <a:buNone/>
            </a:pPr>
            <a:r>
              <a:rPr lang="en-US" sz="1600" b="1" dirty="0">
                <a:solidFill>
                  <a:srgbClr val="3F9B73"/>
                </a:solidFill>
                <a:latin typeface="Calibri" pitchFamily="34" charset="0"/>
                <a:ea typeface="Calibri" pitchFamily="34" charset="-122"/>
                <a:cs typeface="Calibri" pitchFamily="34" charset="-120"/>
              </a:rPr>
              <a:t>The model was already calibrated</a:t>
            </a:r>
            <a:endParaRPr lang="en-US" sz="1600" dirty="0"/>
          </a:p>
        </p:txBody>
      </p:sp>
      <p:sp>
        <p:nvSpPr>
          <p:cNvPr id="5" name="Text 3"/>
          <p:cNvSpPr txBox="1"/>
          <p:nvPr/>
        </p:nvSpPr>
        <p:spPr>
          <a:xfrm>
            <a:off x="4754880" y="1545336"/>
            <a:ext cx="6766560" cy="107899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Per-class error is 0.0099 for Normal, 0.0096 for Suspect and 0.0027 for Pathological. There was very little to correct.</a:t>
            </a:r>
            <a:endParaRPr lang="en-US" sz="1400" dirty="0"/>
          </a:p>
        </p:txBody>
      </p:sp>
      <p:sp>
        <p:nvSpPr>
          <p:cNvPr id="6" name="Text 4"/>
          <p:cNvSpPr txBox="1"/>
          <p:nvPr/>
        </p:nvSpPr>
        <p:spPr>
          <a:xfrm>
            <a:off x="640080" y="2743200"/>
            <a:ext cx="3931920" cy="365760"/>
          </a:xfrm>
          <a:prstGeom prst="rect">
            <a:avLst/>
          </a:prstGeom>
          <a:noFill/>
          <a:ln/>
        </p:spPr>
        <p:txBody>
          <a:bodyPr wrap="square" lIns="0" tIns="0" rIns="0" bIns="0" rtlCol="0" anchor="t"/>
          <a:lstStyle/>
          <a:p>
            <a:pPr indent="0" marL="0">
              <a:buNone/>
            </a:pPr>
            <a:r>
              <a:rPr lang="en-US" sz="1600" b="1" dirty="0">
                <a:solidFill>
                  <a:srgbClr val="E07B2A"/>
                </a:solidFill>
                <a:latin typeface="Calibri" pitchFamily="34" charset="0"/>
                <a:ea typeface="Calibri" pitchFamily="34" charset="-122"/>
                <a:cs typeface="Calibri" pitchFamily="34" charset="-120"/>
              </a:rPr>
              <a:t>Isotonic overfits, Platt is the wrong shape</a:t>
            </a:r>
            <a:endParaRPr lang="en-US" sz="1600" dirty="0"/>
          </a:p>
        </p:txBody>
      </p:sp>
      <p:sp>
        <p:nvSpPr>
          <p:cNvPr id="7" name="Text 5"/>
          <p:cNvSpPr txBox="1"/>
          <p:nvPr/>
        </p:nvSpPr>
        <p:spPr>
          <a:xfrm>
            <a:off x="4754880" y="2734056"/>
            <a:ext cx="6766560" cy="107899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Isotonic takes log loss from 0.1478 to 0.1984, which is what step functions fitted to noise look like. Platt makes calibration worse on all three classes.</a:t>
            </a:r>
            <a:endParaRPr lang="en-US" sz="1400" dirty="0"/>
          </a:p>
        </p:txBody>
      </p:sp>
      <p:sp>
        <p:nvSpPr>
          <p:cNvPr id="8" name="Text 6"/>
          <p:cNvSpPr txBox="1"/>
          <p:nvPr/>
        </p:nvSpPr>
        <p:spPr>
          <a:xfrm>
            <a:off x="640080" y="3931920"/>
            <a:ext cx="3931920" cy="365760"/>
          </a:xfrm>
          <a:prstGeom prst="rect">
            <a:avLst/>
          </a:prstGeom>
          <a:noFill/>
          <a:ln/>
        </p:spPr>
        <p:txBody>
          <a:bodyPr wrap="square" lIns="0" tIns="0" rIns="0" bIns="0" rtlCol="0" anchor="t"/>
          <a:lstStyle/>
          <a:p>
            <a:pPr indent="0" marL="0">
              <a:buNone/>
            </a:pPr>
            <a:r>
              <a:rPr lang="en-US" sz="1600" b="1" dirty="0">
                <a:solidFill>
                  <a:srgbClr val="B3413A"/>
                </a:solidFill>
                <a:latin typeface="Calibri" pitchFamily="34" charset="0"/>
                <a:ea typeface="Calibri" pitchFamily="34" charset="-122"/>
                <a:cs typeface="Calibri" pitchFamily="34" charset="-120"/>
              </a:rPr>
              <a:t>And here is why neither could have helped</a:t>
            </a:r>
            <a:endParaRPr lang="en-US" sz="1600" dirty="0"/>
          </a:p>
        </p:txBody>
      </p:sp>
      <p:sp>
        <p:nvSpPr>
          <p:cNvPr id="9" name="Text 7"/>
          <p:cNvSpPr txBox="1"/>
          <p:nvPr/>
        </p:nvSpPr>
        <p:spPr>
          <a:xfrm>
            <a:off x="4754880" y="3922776"/>
            <a:ext cx="6766560" cy="1078992"/>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At a matched 95% recall target, over 99% of the flagged readings are identical to the raw model's. Calibration is a monotone transform and a recall target is rank-based, so rescaling relabels the cutoff without moving the boundary.</a:t>
            </a:r>
            <a:endParaRPr lang="en-US" sz="1400" dirty="0"/>
          </a:p>
        </p:txBody>
      </p:sp>
      <p:sp>
        <p:nvSpPr>
          <p:cNvPr id="10" name="Shape 8"/>
          <p:cNvSpPr/>
          <p:nvPr/>
        </p:nvSpPr>
        <p:spPr>
          <a:xfrm>
            <a:off x="640080" y="4983480"/>
            <a:ext cx="10881360" cy="1325880"/>
          </a:xfrm>
          <a:prstGeom prst="rect">
            <a:avLst/>
          </a:prstGeom>
          <a:solidFill>
            <a:srgbClr val="F4F6F8"/>
          </a:solidFill>
          <a:ln/>
        </p:spPr>
      </p:sp>
      <p:sp>
        <p:nvSpPr>
          <p:cNvPr id="11" name="Shape 9"/>
          <p:cNvSpPr/>
          <p:nvPr/>
        </p:nvSpPr>
        <p:spPr>
          <a:xfrm>
            <a:off x="960120" y="5257800"/>
            <a:ext cx="118872" cy="118872"/>
          </a:xfrm>
          <a:prstGeom prst="rect">
            <a:avLst/>
          </a:prstGeom>
          <a:solidFill>
            <a:srgbClr val="6B74B8"/>
          </a:solidFill>
          <a:ln/>
        </p:spPr>
      </p:sp>
      <p:sp>
        <p:nvSpPr>
          <p:cNvPr id="12" name="Text 10"/>
          <p:cNvSpPr txBox="1"/>
          <p:nvPr/>
        </p:nvSpPr>
        <p:spPr>
          <a:xfrm>
            <a:off x="1188720" y="5184648"/>
            <a:ext cx="1014984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So the cutoff instability is not a calibration problem</a:t>
            </a:r>
            <a:endParaRPr lang="en-US" sz="1600" dirty="0"/>
          </a:p>
        </p:txBody>
      </p:sp>
      <p:sp>
        <p:nvSpPr>
          <p:cNvPr id="13" name="Text 11"/>
          <p:cNvSpPr txBox="1"/>
          <p:nvPr/>
        </p:nvSpPr>
        <p:spPr>
          <a:xfrm>
            <a:off x="960120" y="5568696"/>
            <a:ext cx="10241280" cy="57607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It is a sample-size problem. Which few of 140 Pathological readings sit nearest the boundary changes with the fold assignment, and no rescaling of the scores touches that.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WHAT GETS HANDED OVER</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A curve, not a number</a:t>
            </a:r>
            <a:endParaRPr lang="en-US" sz="3000" dirty="0"/>
          </a:p>
        </p:txBody>
      </p:sp>
      <p:sp>
        <p:nvSpPr>
          <p:cNvPr id="4" name="Shape 2"/>
          <p:cNvSpPr/>
          <p:nvPr/>
        </p:nvSpPr>
        <p:spPr>
          <a:xfrm>
            <a:off x="640080" y="1508760"/>
            <a:ext cx="5257800" cy="2194560"/>
          </a:xfrm>
          <a:prstGeom prst="rect">
            <a:avLst/>
          </a:prstGeom>
          <a:solidFill>
            <a:srgbClr val="F4F6F8"/>
          </a:solidFill>
          <a:ln/>
        </p:spPr>
      </p:sp>
      <p:sp>
        <p:nvSpPr>
          <p:cNvPr id="5" name="Shape 3"/>
          <p:cNvSpPr/>
          <p:nvPr/>
        </p:nvSpPr>
        <p:spPr>
          <a:xfrm>
            <a:off x="960120" y="1783080"/>
            <a:ext cx="118872" cy="118872"/>
          </a:xfrm>
          <a:prstGeom prst="rect">
            <a:avLst/>
          </a:prstGeom>
          <a:solidFill>
            <a:srgbClr val="B3413A"/>
          </a:solidFill>
          <a:ln/>
        </p:spPr>
      </p:sp>
      <p:sp>
        <p:nvSpPr>
          <p:cNvPr id="6" name="Text 4"/>
          <p:cNvSpPr txBox="1"/>
          <p:nvPr/>
        </p:nvSpPr>
        <p:spPr>
          <a:xfrm>
            <a:off x="1188720" y="170992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The cutoff moves more than the recall does</a:t>
            </a:r>
            <a:endParaRPr lang="en-US" sz="1600" dirty="0"/>
          </a:p>
        </p:txBody>
      </p:sp>
      <p:sp>
        <p:nvSpPr>
          <p:cNvPr id="7" name="Text 5"/>
          <p:cNvSpPr txBox="1"/>
          <p:nvPr/>
        </p:nvSpPr>
        <p:spPr>
          <a:xfrm>
            <a:off x="960120" y="2093976"/>
            <a:ext cx="4617720" cy="144475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Asking each of ten fold assignments for the cutoff that reaches a 95% recall target gives answers from 0.039 to 0.385, close to a ten-fold range. The median, 0.201, is what goes forward.</a:t>
            </a:r>
            <a:endParaRPr lang="en-US" sz="1400" dirty="0"/>
          </a:p>
        </p:txBody>
      </p:sp>
      <p:sp>
        <p:nvSpPr>
          <p:cNvPr id="8" name="Shape 6"/>
          <p:cNvSpPr/>
          <p:nvPr/>
        </p:nvSpPr>
        <p:spPr>
          <a:xfrm>
            <a:off x="6263640" y="1508760"/>
            <a:ext cx="5257800" cy="2194560"/>
          </a:xfrm>
          <a:prstGeom prst="rect">
            <a:avLst/>
          </a:prstGeom>
          <a:solidFill>
            <a:srgbClr val="F4F6F8"/>
          </a:solidFill>
          <a:ln/>
        </p:spPr>
      </p:sp>
      <p:sp>
        <p:nvSpPr>
          <p:cNvPr id="9" name="Shape 7"/>
          <p:cNvSpPr/>
          <p:nvPr/>
        </p:nvSpPr>
        <p:spPr>
          <a:xfrm>
            <a:off x="6583680" y="1783080"/>
            <a:ext cx="118872" cy="118872"/>
          </a:xfrm>
          <a:prstGeom prst="rect">
            <a:avLst/>
          </a:prstGeom>
          <a:solidFill>
            <a:srgbClr val="3F9B73"/>
          </a:solidFill>
          <a:ln/>
        </p:spPr>
      </p:sp>
      <p:sp>
        <p:nvSpPr>
          <p:cNvPr id="10" name="Text 8"/>
          <p:cNvSpPr txBox="1"/>
          <p:nvPr/>
        </p:nvSpPr>
        <p:spPr>
          <a:xfrm>
            <a:off x="6812280" y="170992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Which target is right is not a data question</a:t>
            </a:r>
            <a:endParaRPr lang="en-US" sz="1600" dirty="0"/>
          </a:p>
        </p:txBody>
      </p:sp>
      <p:sp>
        <p:nvSpPr>
          <p:cNvPr id="11" name="Text 9"/>
          <p:cNvSpPr txBox="1"/>
          <p:nvPr/>
        </p:nvSpPr>
        <p:spPr>
          <a:xfrm>
            <a:off x="6583680" y="2093976"/>
            <a:ext cx="4617720" cy="144475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It depends on how many flagged traces a ward can review in a shift. The deliverable is the trade-off curve and a slider, so the person carrying the cost chooses.</a:t>
            </a:r>
            <a:endParaRPr lang="en-US" sz="1400" dirty="0"/>
          </a:p>
        </p:txBody>
      </p:sp>
      <p:sp>
        <p:nvSpPr>
          <p:cNvPr id="12" name="Text 10"/>
          <p:cNvSpPr txBox="1"/>
          <p:nvPr/>
        </p:nvSpPr>
        <p:spPr>
          <a:xfrm>
            <a:off x="640080" y="3977640"/>
            <a:ext cx="1371600" cy="1188720"/>
          </a:xfrm>
          <a:prstGeom prst="rect">
            <a:avLst/>
          </a:prstGeom>
          <a:noFill/>
          <a:ln/>
        </p:spPr>
        <p:txBody>
          <a:bodyPr wrap="square" lIns="0" tIns="0" rIns="0" bIns="0" rtlCol="0" anchor="ctr"/>
          <a:lstStyle/>
          <a:p>
            <a:pPr indent="0" marL="0">
              <a:buNone/>
            </a:pPr>
            <a:r>
              <a:rPr lang="en-US" sz="7600" b="1" dirty="0">
                <a:solidFill>
                  <a:srgbClr val="6B74B8"/>
                </a:solidFill>
                <a:latin typeface="Cambria" pitchFamily="34" charset="0"/>
                <a:ea typeface="Cambria" pitchFamily="34" charset="-122"/>
                <a:cs typeface="Cambria" pitchFamily="34" charset="-120"/>
              </a:rPr>
              <a:t>34</a:t>
            </a:r>
            <a:endParaRPr lang="en-US" sz="7600" dirty="0"/>
          </a:p>
        </p:txBody>
      </p:sp>
      <p:sp>
        <p:nvSpPr>
          <p:cNvPr id="13" name="Text 11"/>
          <p:cNvSpPr txBox="1"/>
          <p:nvPr/>
        </p:nvSpPr>
        <p:spPr>
          <a:xfrm>
            <a:off x="2240280" y="4069080"/>
            <a:ext cx="8961120" cy="1463040"/>
          </a:xfrm>
          <a:prstGeom prst="rect">
            <a:avLst/>
          </a:prstGeom>
          <a:noFill/>
          <a:ln/>
        </p:spPr>
        <p:txBody>
          <a:bodyPr wrap="square" lIns="0" tIns="0" rIns="0" bIns="0" rtlCol="0" anchor="ctr"/>
          <a:lstStyle/>
          <a:p>
            <a:pPr indent="0" marL="0">
              <a:lnSpc>
                <a:spcPct val="120000"/>
              </a:lnSpc>
              <a:buNone/>
            </a:pPr>
            <a:r>
              <a:rPr lang="en-US" sz="1600" dirty="0">
                <a:solidFill>
                  <a:srgbClr val="3A3A3A"/>
                </a:solidFill>
                <a:latin typeface="Calibri" pitchFamily="34" charset="0"/>
                <a:ea typeface="Calibri" pitchFamily="34" charset="-122"/>
                <a:cs typeface="Calibri" pitchFamily="34" charset="-120"/>
              </a:rPr>
              <a:t>of 35 Pathological readings found in the held-out set, read once, at a cutoff fixed on the training folds and applied unchanged. Precision 0.895, Normal recall unchanged at 0.982. One case is 2.9 points here, so quote it as 34 of 35 and not to three decimals.</a:t>
            </a:r>
            <a:endParaRPr lang="en-US" sz="1600" dirty="0"/>
          </a:p>
        </p:txBody>
      </p:sp>
      <p:sp>
        <p:nvSpPr>
          <p:cNvPr id="14" name="Text 12"/>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Held-out set, 422 rows, first and only use. The cutoff was chosen on the training folds.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A POSTSCRIPT, FOUND AFTER THE HELD-OUT READ</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The one change that reproduced, and why it still does not ship</a:t>
            </a:r>
            <a:endParaRPr lang="en-US" sz="3000" dirty="0"/>
          </a:p>
        </p:txBody>
      </p:sp>
      <p:sp>
        <p:nvSpPr>
          <p:cNvPr id="4" name="Text 2"/>
          <p:cNvSpPr txBox="1"/>
          <p:nvPr/>
        </p:nvSpPr>
        <p:spPr>
          <a:xfrm>
            <a:off x="640080" y="1417320"/>
            <a:ext cx="10881360" cy="685800"/>
          </a:xfrm>
          <a:prstGeom prst="rect">
            <a:avLst/>
          </a:prstGeom>
          <a:noFill/>
          <a:ln/>
        </p:spPr>
        <p:txBody>
          <a:bodyPr wrap="square" lIns="0" tIns="0" rIns="0" bIns="0" rtlCol="0" anchor="ctr"/>
          <a:lstStyle/>
          <a:p>
            <a:pPr indent="0" marL="0">
              <a:lnSpc>
                <a:spcPct val="115000"/>
              </a:lnSpc>
              <a:buNone/>
            </a:pPr>
            <a:r>
              <a:rPr lang="en-US" sz="1500" dirty="0">
                <a:solidFill>
                  <a:srgbClr val="3A3A3A"/>
                </a:solidFill>
                <a:latin typeface="Calibri" pitchFamily="34" charset="0"/>
                <a:ea typeface="Calibri" pitchFamily="34" charset="-122"/>
                <a:cs typeface="Calibri" pitchFamily="34" charset="-120"/>
              </a:rPr>
              <a:t>Two more targets, tested after everything above was fixed. Encode severity as a number and widen the gap between Suspect and Pathological, or drop the ordering entirely and fit one binary head for the rare class. Scored by PR-AUC, which needs no cutoff:</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6446520" cy="914400"/>
        </p:xfrm>
        <a:graphic>
          <a:graphicData uri="http://schemas.openxmlformats.org/drawingml/2006/table">
            <a:tbl>
              <a:tblPr/>
              <a:tblGrid>
                <a:gridCol w="2606040"/>
                <a:gridCol w="1280160"/>
                <a:gridCol w="1280160"/>
                <a:gridCol w="1280160"/>
              </a:tblGrid>
              <a:tr h="347472">
                <a:tc>
                  <a:txBody>
                    <a:bodyPr/>
                    <a:lstStyle/>
                    <a:p>
                      <a:pPr indent="0" marL="0">
                        <a:buNone/>
                      </a:pPr>
                      <a:r>
                        <a:rPr lang="en-US" sz="1300" b="1" dirty="0">
                          <a:solidFill>
                            <a:srgbClr val="3A3A3A"/>
                          </a:solidFill>
                          <a:latin typeface="Calibri" pitchFamily="34" charset="0"/>
                          <a:ea typeface="Calibri" pitchFamily="34" charset="-122"/>
                          <a:cs typeface="Calibri" pitchFamily="34" charset="-120"/>
                        </a:rPr>
                        <a:t>how the target is encoded</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A3A3A"/>
                          </a:solidFill>
                          <a:latin typeface="Calibri" pitchFamily="34" charset="0"/>
                          <a:ea typeface="Calibri" pitchFamily="34" charset="-122"/>
                          <a:cs typeface="Calibri" pitchFamily="34" charset="-120"/>
                        </a:rPr>
                        <a:t>overall</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A3A3A"/>
                          </a:solidFill>
                          <a:latin typeface="Calibri" pitchFamily="34" charset="0"/>
                          <a:ea typeface="Calibri" pitchFamily="34" charset="-122"/>
                          <a:cs typeface="Calibri" pitchFamily="34" charset="-120"/>
                        </a:rPr>
                        <a:t>pattern A side</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3A3A3A"/>
                          </a:solidFill>
                          <a:latin typeface="Calibri" pitchFamily="34" charset="0"/>
                          <a:ea typeface="Calibri" pitchFamily="34" charset="-122"/>
                          <a:cs typeface="Calibri" pitchFamily="34" charset="-120"/>
                        </a:rPr>
                        <a:t>pattern B side</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47472">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ordinal 0, 1, 2</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−1.92</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F9B73"/>
                          </a:solidFill>
                          <a:latin typeface="Calibri" pitchFamily="34" charset="0"/>
                          <a:ea typeface="Calibri" pitchFamily="34" charset="-122"/>
                          <a:cs typeface="Calibri" pitchFamily="34" charset="-120"/>
                        </a:rPr>
                        <a:t>+0.39</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−2.90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47472">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ordinal 0, 1, 3</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F9B73"/>
                          </a:solidFill>
                          <a:latin typeface="Calibri" pitchFamily="34" charset="0"/>
                          <a:ea typeface="Calibri" pitchFamily="34" charset="-122"/>
                          <a:cs typeface="Calibri" pitchFamily="34" charset="-120"/>
                        </a:rPr>
                        <a:t>+0.36</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47472">
                <a:tc>
                  <a:txBody>
                    <a:bodyPr/>
                    <a:lstStyle/>
                    <a:p>
                      <a:pPr indent="0" marL="0">
                        <a:buNone/>
                      </a:pPr>
                      <a:r>
                        <a:rPr lang="en-US" sz="1300" dirty="0">
                          <a:solidFill>
                            <a:srgbClr val="3A3A3A"/>
                          </a:solidFill>
                          <a:latin typeface="Calibri" pitchFamily="34" charset="0"/>
                          <a:ea typeface="Calibri" pitchFamily="34" charset="-122"/>
                          <a:cs typeface="Calibri" pitchFamily="34" charset="-120"/>
                        </a:rPr>
                        <a:t>ordinal 0, 1, 5</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−0.32</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F9B73"/>
                          </a:solidFill>
                          <a:latin typeface="Calibri" pitchFamily="34" charset="0"/>
                          <a:ea typeface="Calibri" pitchFamily="34" charset="-122"/>
                          <a:cs typeface="Calibri" pitchFamily="34" charset="-120"/>
                        </a:rPr>
                        <a:t>+0.44</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B3413A"/>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47472">
                <a:tc>
                  <a:txBody>
                    <a:bodyPr/>
                    <a:lstStyle/>
                    <a:p>
                      <a:pPr indent="0" marL="0">
                        <a:buNone/>
                      </a:pPr>
                      <a:r>
                        <a:rPr lang="en-US" sz="1300" b="1" dirty="0">
                          <a:solidFill>
                            <a:srgbClr val="3A3A3A"/>
                          </a:solidFill>
                          <a:latin typeface="Calibri" pitchFamily="34" charset="0"/>
                          <a:ea typeface="Calibri" pitchFamily="34" charset="-122"/>
                          <a:cs typeface="Calibri" pitchFamily="34" charset="-120"/>
                        </a:rPr>
                        <a:t>one binary head, no ordering</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F9B73"/>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F9B73"/>
                          </a:solidFill>
                          <a:latin typeface="Calibri" pitchFamily="34" charset="0"/>
                          <a:ea typeface="Calibri" pitchFamily="34" charset="-122"/>
                          <a:cs typeface="Calibri" pitchFamily="34" charset="-120"/>
                        </a:rPr>
                        <a:t>+0.98</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indent="0" marL="0">
                        <a:buNone/>
                      </a:pPr>
                      <a:r>
                        <a:rPr lang="en-US" sz="1300" dirty="0">
                          <a:solidFill>
                            <a:srgbClr val="3F9B73"/>
                          </a:solidFill>
                          <a:latin typeface="Calibri" pitchFamily="34" charset="0"/>
                          <a:ea typeface="Calibri" pitchFamily="34" charset="-122"/>
                          <a:cs typeface="Calibri" pitchFamily="34" charset="-120"/>
                        </a:rPr>
                        <a:t>+0.45</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
        <p:nvSpPr>
          <p:cNvPr id="6" name="Shape 3"/>
          <p:cNvSpPr/>
          <p:nvPr/>
        </p:nvSpPr>
        <p:spPr>
          <a:xfrm>
            <a:off x="7360920" y="2240280"/>
            <a:ext cx="4160520" cy="1737360"/>
          </a:xfrm>
          <a:prstGeom prst="rect">
            <a:avLst/>
          </a:prstGeom>
          <a:solidFill>
            <a:srgbClr val="F4F6F8"/>
          </a:solidFill>
          <a:ln/>
        </p:spPr>
      </p:sp>
      <p:sp>
        <p:nvSpPr>
          <p:cNvPr id="7" name="Shape 4"/>
          <p:cNvSpPr/>
          <p:nvPr/>
        </p:nvSpPr>
        <p:spPr>
          <a:xfrm>
            <a:off x="7680960" y="2514600"/>
            <a:ext cx="118872" cy="118872"/>
          </a:xfrm>
          <a:prstGeom prst="rect">
            <a:avLst/>
          </a:prstGeom>
          <a:solidFill>
            <a:srgbClr val="6B74B8"/>
          </a:solidFill>
          <a:ln/>
        </p:spPr>
      </p:sp>
      <p:sp>
        <p:nvSpPr>
          <p:cNvPr id="8" name="Text 5"/>
          <p:cNvSpPr txBox="1"/>
          <p:nvPr/>
        </p:nvSpPr>
        <p:spPr>
          <a:xfrm>
            <a:off x="7909560" y="2441448"/>
            <a:ext cx="342900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The sweep is a continuum</a:t>
            </a:r>
            <a:endParaRPr lang="en-US" sz="1600" dirty="0"/>
          </a:p>
        </p:txBody>
      </p:sp>
      <p:sp>
        <p:nvSpPr>
          <p:cNvPr id="9" name="Text 6"/>
          <p:cNvSpPr txBox="1"/>
          <p:nvPr/>
        </p:nvSpPr>
        <p:spPr>
          <a:xfrm>
            <a:off x="7680960" y="2825496"/>
            <a:ext cx="3520440" cy="98755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Widen the gap and the ordering stops mattering. Isolating the rare class is what helps, not ranking the three.</a:t>
            </a:r>
            <a:endParaRPr lang="en-US" sz="1400" dirty="0"/>
          </a:p>
        </p:txBody>
      </p:sp>
      <p:sp>
        <p:nvSpPr>
          <p:cNvPr id="10" name="Shape 7"/>
          <p:cNvSpPr/>
          <p:nvPr/>
        </p:nvSpPr>
        <p:spPr>
          <a:xfrm>
            <a:off x="640080" y="4251960"/>
            <a:ext cx="5257800" cy="1417320"/>
          </a:xfrm>
          <a:prstGeom prst="rect">
            <a:avLst/>
          </a:prstGeom>
          <a:solidFill>
            <a:srgbClr val="F4F6F8"/>
          </a:solidFill>
          <a:ln/>
        </p:spPr>
      </p:sp>
      <p:sp>
        <p:nvSpPr>
          <p:cNvPr id="11" name="Shape 8"/>
          <p:cNvSpPr/>
          <p:nvPr/>
        </p:nvSpPr>
        <p:spPr>
          <a:xfrm>
            <a:off x="960120" y="4526280"/>
            <a:ext cx="118872" cy="118872"/>
          </a:xfrm>
          <a:prstGeom prst="rect">
            <a:avLst/>
          </a:prstGeom>
          <a:solidFill>
            <a:srgbClr val="3F9B73"/>
          </a:solidFill>
          <a:ln/>
        </p:spPr>
      </p:sp>
      <p:sp>
        <p:nvSpPr>
          <p:cNvPr id="12" name="Text 9"/>
          <p:cNvSpPr txBox="1"/>
          <p:nvPr/>
        </p:nvSpPr>
        <p:spPr>
          <a:xfrm>
            <a:off x="1188720" y="445312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It reproduces, which nothing else did</a:t>
            </a:r>
            <a:endParaRPr lang="en-US" sz="1600" dirty="0"/>
          </a:p>
        </p:txBody>
      </p:sp>
      <p:sp>
        <p:nvSpPr>
          <p:cNvPr id="13" name="Text 10"/>
          <p:cNvSpPr txBox="1"/>
          <p:nvPr/>
        </p:nvSpPr>
        <p:spPr>
          <a:xfrm>
            <a:off x="960120" y="4837176"/>
            <a:ext cx="4617720" cy="66751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Better on both patterns in five perturbation worlds of five. At the 95% target it holds recall and gains 3.73 points of precision on 10 of 10.</a:t>
            </a:r>
            <a:endParaRPr lang="en-US" sz="1400" dirty="0"/>
          </a:p>
        </p:txBody>
      </p:sp>
      <p:sp>
        <p:nvSpPr>
          <p:cNvPr id="14" name="Shape 11"/>
          <p:cNvSpPr/>
          <p:nvPr/>
        </p:nvSpPr>
        <p:spPr>
          <a:xfrm>
            <a:off x="6263640" y="4251960"/>
            <a:ext cx="5257800" cy="1417320"/>
          </a:xfrm>
          <a:prstGeom prst="rect">
            <a:avLst/>
          </a:prstGeom>
          <a:solidFill>
            <a:srgbClr val="F4F6F8"/>
          </a:solidFill>
          <a:ln/>
        </p:spPr>
      </p:sp>
      <p:sp>
        <p:nvSpPr>
          <p:cNvPr id="15" name="Shape 12"/>
          <p:cNvSpPr/>
          <p:nvPr/>
        </p:nvSpPr>
        <p:spPr>
          <a:xfrm>
            <a:off x="6583680" y="4526280"/>
            <a:ext cx="118872" cy="118872"/>
          </a:xfrm>
          <a:prstGeom prst="rect">
            <a:avLst/>
          </a:prstGeom>
          <a:solidFill>
            <a:srgbClr val="B3413A"/>
          </a:solidFill>
          <a:ln/>
        </p:spPr>
      </p:sp>
      <p:sp>
        <p:nvSpPr>
          <p:cNvPr id="16" name="Text 13"/>
          <p:cNvSpPr txBox="1"/>
          <p:nvPr/>
        </p:nvSpPr>
        <p:spPr>
          <a:xfrm>
            <a:off x="6812280" y="4453128"/>
            <a:ext cx="4526280" cy="320040"/>
          </a:xfrm>
          <a:prstGeom prst="rect">
            <a:avLst/>
          </a:prstGeom>
          <a:noFill/>
          <a:ln/>
        </p:spPr>
        <p:txBody>
          <a:bodyPr wrap="square" lIns="0" tIns="0" rIns="0" bIns="0" rtlCol="0" anchor="ctr"/>
          <a:lstStyle/>
          <a:p>
            <a:pPr indent="0" marL="0">
              <a:buNone/>
            </a:pPr>
            <a:r>
              <a:rPr lang="en-US" sz="1600" b="1" dirty="0">
                <a:solidFill>
                  <a:srgbClr val="1B2A38"/>
                </a:solidFill>
                <a:latin typeface="Calibri" pitchFamily="34" charset="0"/>
                <a:ea typeface="Calibri" pitchFamily="34" charset="-122"/>
                <a:cs typeface="Calibri" pitchFamily="34" charset="-120"/>
              </a:rPr>
              <a:t>And it still cannot ship</a:t>
            </a:r>
            <a:endParaRPr lang="en-US" sz="1600" dirty="0"/>
          </a:p>
        </p:txBody>
      </p:sp>
      <p:sp>
        <p:nvSpPr>
          <p:cNvPr id="17" name="Text 14"/>
          <p:cNvSpPr txBox="1"/>
          <p:nvPr/>
        </p:nvSpPr>
        <p:spPr>
          <a:xfrm>
            <a:off x="6583680" y="4837176"/>
            <a:ext cx="4617720" cy="667512"/>
          </a:xfrm>
          <a:prstGeom prst="rect">
            <a:avLst/>
          </a:prstGeom>
          <a:noFill/>
          <a:ln/>
        </p:spPr>
        <p:txBody>
          <a:bodyPr wrap="square" lIns="0" tIns="0" rIns="0" bIns="0" rtlCol="0" anchor="ctr"/>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The gain is larger on the stratum already solved, and the held-out set was read before this was found.</a:t>
            </a:r>
            <a:endParaRPr lang="en-US" sz="1400" dirty="0"/>
          </a:p>
        </p:txBody>
      </p:sp>
      <p:sp>
        <p:nvSpPr>
          <p:cNvPr id="18" name="Text 15"/>
          <p:cNvSpPr txBox="1"/>
          <p:nvPr/>
        </p:nvSpPr>
        <p:spPr>
          <a:xfrm>
            <a:off x="640080" y="5806440"/>
            <a:ext cx="9601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Points of PR-AUC against the shipped model, training rows only. Ordinal helps pattern A and hurts pattern B in all five worlds.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274320"/>
            <a:ext cx="10881360" cy="274320"/>
          </a:xfrm>
          <a:prstGeom prst="rect">
            <a:avLst/>
          </a:prstGeom>
          <a:noFill/>
          <a:ln/>
        </p:spPr>
        <p:txBody>
          <a:bodyPr wrap="square" lIns="0" tIns="0" rIns="0" bIns="0" rtlCol="0" anchor="ctr"/>
          <a:lstStyle/>
          <a:p>
            <a:pPr indent="0" marL="0">
              <a:buNone/>
            </a:pPr>
            <a:r>
              <a:rPr lang="en-US" sz="1200" b="1" spc="120" kern="0" dirty="0">
                <a:solidFill>
                  <a:srgbClr val="E07B2A"/>
                </a:solidFill>
                <a:latin typeface="Calibri" pitchFamily="34" charset="0"/>
                <a:ea typeface="Calibri" pitchFamily="34" charset="-122"/>
                <a:cs typeface="Calibri" pitchFamily="34" charset="-120"/>
              </a:rPr>
              <a:t>WHAT THIS DOES NOT DO</a:t>
            </a:r>
            <a:endParaRPr lang="en-US" sz="1200" dirty="0"/>
          </a:p>
        </p:txBody>
      </p:sp>
      <p:sp>
        <p:nvSpPr>
          <p:cNvPr id="3" name="Text 1"/>
          <p:cNvSpPr txBox="1"/>
          <p:nvPr/>
        </p:nvSpPr>
        <p:spPr>
          <a:xfrm>
            <a:off x="640080" y="384048"/>
            <a:ext cx="10881360" cy="77724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The limits, stated before anyone asks</a:t>
            </a:r>
            <a:endParaRPr lang="en-US" sz="3000" dirty="0"/>
          </a:p>
        </p:txBody>
      </p:sp>
      <p:sp>
        <p:nvSpPr>
          <p:cNvPr id="4" name="Text 2"/>
          <p:cNvSpPr txBox="1"/>
          <p:nvPr/>
        </p:nvSpPr>
        <p:spPr>
          <a:xfrm>
            <a:off x="640080" y="1600200"/>
            <a:ext cx="3931920" cy="365760"/>
          </a:xfrm>
          <a:prstGeom prst="rect">
            <a:avLst/>
          </a:prstGeom>
          <a:noFill/>
          <a:ln/>
        </p:spPr>
        <p:txBody>
          <a:bodyPr wrap="square" lIns="0" tIns="0" rIns="0" bIns="0" rtlCol="0" anchor="t"/>
          <a:lstStyle/>
          <a:p>
            <a:pPr indent="0" marL="0">
              <a:buNone/>
            </a:pPr>
            <a:r>
              <a:rPr lang="en-US" sz="1600" b="1" dirty="0">
                <a:solidFill>
                  <a:srgbClr val="B3413A"/>
                </a:solidFill>
                <a:latin typeface="Calibri" pitchFamily="34" charset="0"/>
                <a:ea typeface="Calibri" pitchFamily="34" charset="-122"/>
                <a:cs typeface="Calibri" pitchFamily="34" charset="-120"/>
              </a:rPr>
              <a:t>The timing is missing</a:t>
            </a:r>
            <a:endParaRPr lang="en-US" sz="1600" dirty="0"/>
          </a:p>
        </p:txBody>
      </p:sp>
      <p:sp>
        <p:nvSpPr>
          <p:cNvPr id="5" name="Text 3"/>
          <p:cNvSpPr txBox="1"/>
          <p:nvPr/>
        </p:nvSpPr>
        <p:spPr>
          <a:xfrm>
            <a:off x="4754880" y="1591056"/>
            <a:ext cx="6766560" cy="786384"/>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Early and late decelerations mean opposite things and look identical in these 21 columns. This is the hardest limit here and no model removes it.</a:t>
            </a:r>
            <a:endParaRPr lang="en-US" sz="1400" dirty="0"/>
          </a:p>
        </p:txBody>
      </p:sp>
      <p:sp>
        <p:nvSpPr>
          <p:cNvPr id="6" name="Text 4"/>
          <p:cNvSpPr txBox="1"/>
          <p:nvPr/>
        </p:nvSpPr>
        <p:spPr>
          <a:xfrm>
            <a:off x="640080" y="2496312"/>
            <a:ext cx="3931920" cy="365760"/>
          </a:xfrm>
          <a:prstGeom prst="rect">
            <a:avLst/>
          </a:prstGeom>
          <a:noFill/>
          <a:ln/>
        </p:spPr>
        <p:txBody>
          <a:bodyPr wrap="square" lIns="0" tIns="0" rIns="0" bIns="0" rtlCol="0" anchor="t"/>
          <a:lstStyle/>
          <a:p>
            <a:pPr indent="0" marL="0">
              <a:buNone/>
            </a:pPr>
            <a:r>
              <a:rPr lang="en-US" sz="1600" b="1" dirty="0">
                <a:solidFill>
                  <a:srgbClr val="E07B2A"/>
                </a:solidFill>
                <a:latin typeface="Calibri" pitchFamily="34" charset="0"/>
                <a:ea typeface="Calibri" pitchFamily="34" charset="-122"/>
                <a:cs typeface="Calibri" pitchFamily="34" charset="-120"/>
              </a:rPr>
              <a:t>The labels are opinion, not outcome</a:t>
            </a:r>
            <a:endParaRPr lang="en-US" sz="1600" dirty="0"/>
          </a:p>
        </p:txBody>
      </p:sp>
      <p:sp>
        <p:nvSpPr>
          <p:cNvPr id="7" name="Text 5"/>
          <p:cNvSpPr txBox="1"/>
          <p:nvPr/>
        </p:nvSpPr>
        <p:spPr>
          <a:xfrm>
            <a:off x="4754880" y="2487168"/>
            <a:ext cx="6766560" cy="786384"/>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Nobody checked which babies were actually in trouble. Matching these labels perfectly would mean reproducing three obstetricians, not being right.</a:t>
            </a:r>
            <a:endParaRPr lang="en-US" sz="1400" dirty="0"/>
          </a:p>
        </p:txBody>
      </p:sp>
      <p:sp>
        <p:nvSpPr>
          <p:cNvPr id="8" name="Text 6"/>
          <p:cNvSpPr txBox="1"/>
          <p:nvPr/>
        </p:nvSpPr>
        <p:spPr>
          <a:xfrm>
            <a:off x="640080" y="3392424"/>
            <a:ext cx="3931920" cy="365760"/>
          </a:xfrm>
          <a:prstGeom prst="rect">
            <a:avLst/>
          </a:prstGeom>
          <a:noFill/>
          <a:ln/>
        </p:spPr>
        <p:txBody>
          <a:bodyPr wrap="square" lIns="0" tIns="0" rIns="0" bIns="0" rtlCol="0" anchor="t"/>
          <a:lstStyle/>
          <a:p>
            <a:pPr indent="0" marL="0">
              <a:buNone/>
            </a:pPr>
            <a:r>
              <a:rPr lang="en-US" sz="1600" b="1" dirty="0">
                <a:solidFill>
                  <a:srgbClr val="6B6B6B"/>
                </a:solidFill>
                <a:latin typeface="Calibri" pitchFamily="34" charset="0"/>
                <a:ea typeface="Calibri" pitchFamily="34" charset="-122"/>
                <a:cs typeface="Calibri" pitchFamily="34" charset="-120"/>
              </a:rPr>
              <a:t>No external validation</a:t>
            </a:r>
            <a:endParaRPr lang="en-US" sz="1600" dirty="0"/>
          </a:p>
        </p:txBody>
      </p:sp>
      <p:sp>
        <p:nvSpPr>
          <p:cNvPr id="9" name="Text 7"/>
          <p:cNvSpPr txBox="1"/>
          <p:nvPr/>
        </p:nvSpPr>
        <p:spPr>
          <a:xfrm>
            <a:off x="4754880" y="3383280"/>
            <a:ext cx="6766560" cy="786384"/>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One dataset, one source, one era. Nothing here says the model transfers to another hospital's equipment.</a:t>
            </a:r>
            <a:endParaRPr lang="en-US" sz="1400" dirty="0"/>
          </a:p>
        </p:txBody>
      </p:sp>
      <p:sp>
        <p:nvSpPr>
          <p:cNvPr id="10" name="Text 8"/>
          <p:cNvSpPr txBox="1"/>
          <p:nvPr/>
        </p:nvSpPr>
        <p:spPr>
          <a:xfrm>
            <a:off x="640080" y="4288536"/>
            <a:ext cx="3931920" cy="365760"/>
          </a:xfrm>
          <a:prstGeom prst="rect">
            <a:avLst/>
          </a:prstGeom>
          <a:noFill/>
          <a:ln/>
        </p:spPr>
        <p:txBody>
          <a:bodyPr wrap="square" lIns="0" tIns="0" rIns="0" bIns="0" rtlCol="0" anchor="t"/>
          <a:lstStyle/>
          <a:p>
            <a:pPr indent="0" marL="0">
              <a:buNone/>
            </a:pPr>
            <a:r>
              <a:rPr lang="en-US" sz="1600" b="1" dirty="0">
                <a:solidFill>
                  <a:srgbClr val="6B6B6B"/>
                </a:solidFill>
                <a:latin typeface="Calibri" pitchFamily="34" charset="0"/>
                <a:ea typeface="Calibri" pitchFamily="34" charset="-122"/>
                <a:cs typeface="Calibri" pitchFamily="34" charset="-120"/>
              </a:rPr>
              <a:t>No subgroup analysis is possible</a:t>
            </a:r>
            <a:endParaRPr lang="en-US" sz="1600" dirty="0"/>
          </a:p>
        </p:txBody>
      </p:sp>
      <p:sp>
        <p:nvSpPr>
          <p:cNvPr id="11" name="Text 9"/>
          <p:cNvSpPr txBox="1"/>
          <p:nvPr/>
        </p:nvSpPr>
        <p:spPr>
          <a:xfrm>
            <a:off x="4754880" y="4279392"/>
            <a:ext cx="6766560" cy="786384"/>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The file carries no demographic columns, so no fairness check can be run. Saying that is the deliverable, not producing an empty table.</a:t>
            </a:r>
            <a:endParaRPr lang="en-US" sz="1400" dirty="0"/>
          </a:p>
        </p:txBody>
      </p:sp>
      <p:sp>
        <p:nvSpPr>
          <p:cNvPr id="12" name="Text 10"/>
          <p:cNvSpPr txBox="1"/>
          <p:nvPr/>
        </p:nvSpPr>
        <p:spPr>
          <a:xfrm>
            <a:off x="640080" y="5184648"/>
            <a:ext cx="3931920" cy="365760"/>
          </a:xfrm>
          <a:prstGeom prst="rect">
            <a:avLst/>
          </a:prstGeom>
          <a:noFill/>
          <a:ln/>
        </p:spPr>
        <p:txBody>
          <a:bodyPr wrap="square" lIns="0" tIns="0" rIns="0" bIns="0" rtlCol="0" anchor="t"/>
          <a:lstStyle/>
          <a:p>
            <a:pPr indent="0" marL="0">
              <a:buNone/>
            </a:pPr>
            <a:r>
              <a:rPr lang="en-US" sz="1600" b="1" dirty="0">
                <a:solidFill>
                  <a:srgbClr val="6B6B6B"/>
                </a:solidFill>
                <a:latin typeface="Calibri" pitchFamily="34" charset="0"/>
                <a:ea typeface="Calibri" pitchFamily="34" charset="-122"/>
                <a:cs typeface="Calibri" pitchFamily="34" charset="-120"/>
              </a:rPr>
              <a:t>Nothing here is deployable</a:t>
            </a:r>
            <a:endParaRPr lang="en-US" sz="1600" dirty="0"/>
          </a:p>
        </p:txBody>
      </p:sp>
      <p:sp>
        <p:nvSpPr>
          <p:cNvPr id="13" name="Text 11"/>
          <p:cNvSpPr txBox="1"/>
          <p:nvPr/>
        </p:nvSpPr>
        <p:spPr>
          <a:xfrm>
            <a:off x="4754880" y="5175504"/>
            <a:ext cx="6766560" cy="786384"/>
          </a:xfrm>
          <a:prstGeom prst="rect">
            <a:avLst/>
          </a:prstGeom>
          <a:noFill/>
          <a:ln/>
        </p:spPr>
        <p:txBody>
          <a:bodyPr wrap="square" lIns="0" tIns="0" rIns="0" bIns="0" rtlCol="0" anchor="t"/>
          <a:lstStyle/>
          <a:p>
            <a:pPr indent="0" marL="0">
              <a:lnSpc>
                <a:spcPct val="115000"/>
              </a:lnSpc>
              <a:buNone/>
            </a:pPr>
            <a:r>
              <a:rPr lang="en-US" sz="1400" dirty="0">
                <a:solidFill>
                  <a:srgbClr val="3A3A3A"/>
                </a:solidFill>
                <a:latin typeface="Calibri" pitchFamily="34" charset="0"/>
                <a:ea typeface="Calibri" pitchFamily="34" charset="-122"/>
                <a:cs typeface="Calibri" pitchFamily="34" charset="-120"/>
              </a:rPr>
              <a:t>No saved artefact, no monitoring, no drift check between the data it was fitted on and the data it would meet.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38"/>
        </a:solidFill>
      </p:bgPr>
    </p:bg>
    <p:spTree>
      <p:nvGrpSpPr>
        <p:cNvPr id="1" name=""/>
        <p:cNvGrpSpPr/>
        <p:nvPr/>
      </p:nvGrpSpPr>
      <p:grpSpPr>
        <a:xfrm>
          <a:off x="0" y="0"/>
          <a:ext cx="0" cy="0"/>
          <a:chOff x="0" y="0"/>
          <a:chExt cx="0" cy="0"/>
        </a:xfrm>
      </p:grpSpPr>
      <p:sp>
        <p:nvSpPr>
          <p:cNvPr id="2" name="Shape 0"/>
          <p:cNvSpPr/>
          <p:nvPr/>
        </p:nvSpPr>
        <p:spPr>
          <a:xfrm>
            <a:off x="640080" y="777240"/>
            <a:ext cx="118872" cy="118872"/>
          </a:xfrm>
          <a:prstGeom prst="rect">
            <a:avLst/>
          </a:prstGeom>
          <a:solidFill>
            <a:srgbClr val="3F9B73"/>
          </a:solidFill>
          <a:ln/>
        </p:spPr>
      </p:sp>
      <p:sp>
        <p:nvSpPr>
          <p:cNvPr id="3" name="Shape 1"/>
          <p:cNvSpPr/>
          <p:nvPr/>
        </p:nvSpPr>
        <p:spPr>
          <a:xfrm>
            <a:off x="841248" y="777240"/>
            <a:ext cx="118872" cy="118872"/>
          </a:xfrm>
          <a:prstGeom prst="rect">
            <a:avLst/>
          </a:prstGeom>
          <a:solidFill>
            <a:srgbClr val="E07B2A"/>
          </a:solidFill>
          <a:ln/>
        </p:spPr>
      </p:sp>
      <p:sp>
        <p:nvSpPr>
          <p:cNvPr id="4" name="Shape 2"/>
          <p:cNvSpPr/>
          <p:nvPr/>
        </p:nvSpPr>
        <p:spPr>
          <a:xfrm>
            <a:off x="1042416" y="777240"/>
            <a:ext cx="118872" cy="118872"/>
          </a:xfrm>
          <a:prstGeom prst="rect">
            <a:avLst/>
          </a:prstGeom>
          <a:solidFill>
            <a:srgbClr val="6B74B8"/>
          </a:solidFill>
          <a:ln/>
        </p:spPr>
      </p:sp>
      <p:sp>
        <p:nvSpPr>
          <p:cNvPr id="5" name="Text 3"/>
          <p:cNvSpPr txBox="1"/>
          <p:nvPr/>
        </p:nvSpPr>
        <p:spPr>
          <a:xfrm>
            <a:off x="640080" y="1143000"/>
            <a:ext cx="108813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If you remember three things</a:t>
            </a:r>
            <a:endParaRPr lang="en-US" sz="3600" dirty="0"/>
          </a:p>
        </p:txBody>
      </p:sp>
      <p:sp>
        <p:nvSpPr>
          <p:cNvPr id="6" name="Shape 4"/>
          <p:cNvSpPr/>
          <p:nvPr/>
        </p:nvSpPr>
        <p:spPr>
          <a:xfrm>
            <a:off x="640080" y="2331720"/>
            <a:ext cx="118872" cy="118872"/>
          </a:xfrm>
          <a:prstGeom prst="rect">
            <a:avLst/>
          </a:prstGeom>
          <a:solidFill>
            <a:srgbClr val="3F9B73"/>
          </a:solidFill>
          <a:ln/>
        </p:spPr>
      </p:sp>
      <p:sp>
        <p:nvSpPr>
          <p:cNvPr id="7" name="Text 5"/>
          <p:cNvSpPr txBox="1"/>
          <p:nvPr/>
        </p:nvSpPr>
        <p:spPr>
          <a:xfrm>
            <a:off x="1051560" y="2240280"/>
            <a:ext cx="104241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Almost every difference here is one case wide.</a:t>
            </a:r>
            <a:endParaRPr lang="en-US" sz="1700" dirty="0"/>
          </a:p>
        </p:txBody>
      </p:sp>
      <p:sp>
        <p:nvSpPr>
          <p:cNvPr id="8" name="Text 6"/>
          <p:cNvSpPr txBox="1"/>
          <p:nvPr/>
        </p:nvSpPr>
        <p:spPr>
          <a:xfrm>
            <a:off x="1051560" y="2651760"/>
            <a:ext cx="10424160" cy="777240"/>
          </a:xfrm>
          <a:prstGeom prst="rect">
            <a:avLst/>
          </a:prstGeom>
          <a:noFill/>
          <a:ln/>
        </p:spPr>
        <p:txBody>
          <a:bodyPr wrap="square" lIns="0" tIns="0" rIns="0" bIns="0" rtlCol="0" anchor="ctr"/>
          <a:lstStyle/>
          <a:p>
            <a:pPr indent="0" marL="0">
              <a:lnSpc>
                <a:spcPct val="115000"/>
              </a:lnSpc>
              <a:buNone/>
            </a:pPr>
            <a:r>
              <a:rPr lang="en-US" sz="1400" dirty="0">
                <a:solidFill>
                  <a:srgbClr val="AFC0CE"/>
                </a:solidFill>
                <a:latin typeface="Calibri" pitchFamily="34" charset="0"/>
                <a:ea typeface="Calibri" pitchFamily="34" charset="-122"/>
                <a:cs typeface="Calibri" pitchFamily="34" charset="-120"/>
              </a:rPr>
              <a:t>140 Pathological cases means 0.71 points per case, and re-running the same model on ten fold assignments spreads 7 cases. One run cannot tell signal from luck at that resolution.</a:t>
            </a:r>
            <a:endParaRPr lang="en-US" sz="1400" dirty="0"/>
          </a:p>
        </p:txBody>
      </p:sp>
      <p:sp>
        <p:nvSpPr>
          <p:cNvPr id="9" name="Shape 7"/>
          <p:cNvSpPr/>
          <p:nvPr/>
        </p:nvSpPr>
        <p:spPr>
          <a:xfrm>
            <a:off x="640080" y="3657600"/>
            <a:ext cx="118872" cy="118872"/>
          </a:xfrm>
          <a:prstGeom prst="rect">
            <a:avLst/>
          </a:prstGeom>
          <a:solidFill>
            <a:srgbClr val="E07B2A"/>
          </a:solidFill>
          <a:ln/>
        </p:spPr>
      </p:sp>
      <p:sp>
        <p:nvSpPr>
          <p:cNvPr id="10" name="Text 8"/>
          <p:cNvSpPr txBox="1"/>
          <p:nvPr/>
        </p:nvSpPr>
        <p:spPr>
          <a:xfrm>
            <a:off x="1051560" y="3566160"/>
            <a:ext cx="104241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 rule is only worth what its reproducibility is worth.</a:t>
            </a:r>
            <a:endParaRPr lang="en-US" sz="1700" dirty="0"/>
          </a:p>
        </p:txBody>
      </p:sp>
      <p:sp>
        <p:nvSpPr>
          <p:cNvPr id="11" name="Text 9"/>
          <p:cNvSpPr txBox="1"/>
          <p:nvPr/>
        </p:nvSpPr>
        <p:spPr>
          <a:xfrm>
            <a:off x="1051560" y="3977640"/>
            <a:ext cx="10424160" cy="777240"/>
          </a:xfrm>
          <a:prstGeom prst="rect">
            <a:avLst/>
          </a:prstGeom>
          <a:noFill/>
          <a:ln/>
        </p:spPr>
        <p:txBody>
          <a:bodyPr wrap="square" lIns="0" tIns="0" rIns="0" bIns="0" rtlCol="0" anchor="ctr"/>
          <a:lstStyle/>
          <a:p>
            <a:pPr indent="0" marL="0">
              <a:lnSpc>
                <a:spcPct val="115000"/>
              </a:lnSpc>
              <a:buNone/>
            </a:pPr>
            <a:r>
              <a:rPr lang="en-US" sz="1400" dirty="0">
                <a:solidFill>
                  <a:srgbClr val="AFC0CE"/>
                </a:solidFill>
                <a:latin typeface="Calibri" pitchFamily="34" charset="0"/>
                <a:ea typeface="Calibri" pitchFamily="34" charset="-122"/>
                <a:cs typeface="Calibri" pitchFamily="34" charset="-120"/>
              </a:rPr>
              <a:t>One change cleared a pre-registered rule and then survived one perturbation out of six. The rule was not wrong, it was underpowered, and nothing is adopted for accuracy as a result.</a:t>
            </a:r>
            <a:endParaRPr lang="en-US" sz="1400" dirty="0"/>
          </a:p>
        </p:txBody>
      </p:sp>
      <p:sp>
        <p:nvSpPr>
          <p:cNvPr id="12" name="Shape 10"/>
          <p:cNvSpPr/>
          <p:nvPr/>
        </p:nvSpPr>
        <p:spPr>
          <a:xfrm>
            <a:off x="640080" y="4983480"/>
            <a:ext cx="118872" cy="118872"/>
          </a:xfrm>
          <a:prstGeom prst="rect">
            <a:avLst/>
          </a:prstGeom>
          <a:solidFill>
            <a:srgbClr val="6B74B8"/>
          </a:solidFill>
          <a:ln/>
        </p:spPr>
      </p:sp>
      <p:sp>
        <p:nvSpPr>
          <p:cNvPr id="13" name="Text 11"/>
          <p:cNvSpPr txBox="1"/>
          <p:nvPr/>
        </p:nvSpPr>
        <p:spPr>
          <a:xfrm>
            <a:off x="1051560" y="4892040"/>
            <a:ext cx="104241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limit is the missing time axis, not the modelling.</a:t>
            </a:r>
            <a:endParaRPr lang="en-US" sz="1700" dirty="0"/>
          </a:p>
        </p:txBody>
      </p:sp>
      <p:sp>
        <p:nvSpPr>
          <p:cNvPr id="14" name="Text 12"/>
          <p:cNvSpPr txBox="1"/>
          <p:nvPr/>
        </p:nvSpPr>
        <p:spPr>
          <a:xfrm>
            <a:off x="1051560" y="5303520"/>
            <a:ext cx="10424160" cy="777240"/>
          </a:xfrm>
          <a:prstGeom prst="rect">
            <a:avLst/>
          </a:prstGeom>
          <a:noFill/>
          <a:ln/>
        </p:spPr>
        <p:txBody>
          <a:bodyPr wrap="square" lIns="0" tIns="0" rIns="0" bIns="0" rtlCol="0" anchor="ctr"/>
          <a:lstStyle/>
          <a:p>
            <a:pPr indent="0" marL="0">
              <a:lnSpc>
                <a:spcPct val="115000"/>
              </a:lnSpc>
              <a:buNone/>
            </a:pPr>
            <a:r>
              <a:rPr lang="en-US" sz="1400" dirty="0">
                <a:solidFill>
                  <a:srgbClr val="AFC0CE"/>
                </a:solidFill>
                <a:latin typeface="Calibri" pitchFamily="34" charset="0"/>
                <a:ea typeface="Calibri" pitchFamily="34" charset="-122"/>
                <a:cs typeface="Calibri" pitchFamily="34" charset="-120"/>
              </a:rPr>
              <a:t>Twenty-one comparisons, ten engineered features and four architectures all landed inside the noise. What the file threw away is worth more than anything left to tune.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2026-09-16T17:51:22Z</dcterms:created>
  <dcterms:modified xsi:type="dcterms:W3CDTF">2026-09-16T17:51:22Z</dcterms:modified>
</cp:coreProperties>
</file>